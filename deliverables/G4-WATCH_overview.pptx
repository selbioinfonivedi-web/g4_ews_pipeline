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0" cy="508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ICAR–NIVEDI  ·  GENOMIC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G4-WATCH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9692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 i="0">
                <a:solidFill>
                  <a:srgbClr val="FFFFFF"/>
                </a:solidFill>
                <a:latin typeface="Calibri"/>
              </a:rPr>
              <a:t>Do G-quadruplex sites in livestock virus genomes behave differently</a:t>
            </a:r>
          </a:p>
          <a:p>
            <a:pPr algn="l">
              <a:lnSpc>
                <a:spcPct val="128000"/>
              </a:lnSpc>
            </a:pPr>
            <a:r>
              <a:rPr sz="2100" b="0" i="0">
                <a:solidFill>
                  <a:srgbClr val="FFFFFF"/>
                </a:solidFill>
                <a:latin typeface="Calibri"/>
              </a:rPr>
              <a:t>from the rest of the genome — and can that be used as an early warning?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FC7D8"/>
                </a:solidFill>
                <a:latin typeface="Calibri"/>
              </a:rPr>
              <a:t>How the pipeline works, and what it found across 11 pathogens and 6,485 genomes.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53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7EA3B8"/>
                </a:solidFill>
                <a:latin typeface="Calibri"/>
              </a:rPr>
              <a:t>Research framework — not a validated diagnostic. No output here should drive a control decision on its 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G-quadruplex is a structure, not just a 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9436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Four runs of guanine, separated by short loops, can fold the strand back on itself into a stack of G-tetrads held together by Hoogsteen bonds — a G-quadruplex, or G4.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Where one forms it obstructs polymerase and ribosome. A virus carrying one is under selection either to keep it or to lose it, so the site is a place worth watching.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Detection here is G4Hunter: a sliding window (w = 25) scoring G-skew from +4 to −4, with |score| ≥ 1.2 called, plus an independent regex motif. Two methods must overlap by ≥ 80% to count as concordant.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Negative scores are C-rich windows — a G4 on the opposite strand. They are kept, and strand is reported as a covariate rather than settled by exclusion.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1" i="0">
                <a:solidFill>
                  <a:srgbClr val="1B3A5C"/>
                </a:solidFill>
                <a:latin typeface="Calibri"/>
              </a:rPr>
              <a:t>▪  The framework rests on one testable claim about these sites, stated on the next slide. It is stated as a claim precisely so that it can fail.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417320"/>
            <a:ext cx="4937760" cy="3977639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WHAT THE PIPELINE STORES PER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057400"/>
            <a:ext cx="43891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00" b="0" i="0">
                <a:solidFill>
                  <a:srgbClr val="5A6670"/>
                </a:solidFill>
                <a:latin typeface="Calibri"/>
              </a:rPr>
              <a:t>▪  Position on the reference genome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00" b="0" i="0">
                <a:solidFill>
                  <a:srgbClr val="5A6670"/>
                </a:solidFill>
                <a:latin typeface="Calibri"/>
              </a:rPr>
              <a:t>▪  G4Hunter score and predicted topology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00" b="0" i="0">
                <a:solidFill>
                  <a:srgbClr val="5A6670"/>
                </a:solidFill>
                <a:latin typeface="Calibri"/>
              </a:rPr>
              <a:t>▪  Gene feature and strand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00" b="0" i="0">
                <a:solidFill>
                  <a:srgbClr val="5A6670"/>
                </a:solidFill>
                <a:latin typeface="Calibri"/>
              </a:rPr>
              <a:t>▪  GC content of the flanking sequence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00" b="0" i="0">
                <a:solidFill>
                  <a:srgbClr val="5A6670"/>
                </a:solidFill>
                <a:latin typeface="Calibri"/>
              </a:rPr>
              <a:t>▪  Conservation across the phylogeny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300" b="0" i="0">
                <a:solidFill>
                  <a:srgbClr val="5A6670"/>
                </a:solidFill>
                <a:latin typeface="Calibri"/>
              </a:rPr>
              <a:t>▪  A structural-confidence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452628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1B3A5C"/>
                </a:solidFill>
                <a:latin typeface="Calibri"/>
              </a:rPr>
              <a:t>Together these are the G4 Reference Atlas. It is fixed before any</a:t>
            </a:r>
          </a:p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1B3A5C"/>
                </a:solidFill>
                <a:latin typeface="Calibri"/>
              </a:rPr>
              <a:t>statistical test runs, so the loci cannot be chosen after seeing the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Atlas schema: data/atlases/G4_Reference_Atlas_v*.tsv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THE CLAIM UNDER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D.H1 — a directional hypothesis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D98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137160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 i="0">
                <a:solidFill>
                  <a:srgbClr val="1B3A5C"/>
                </a:solidFill>
                <a:latin typeface="Calibri"/>
              </a:rPr>
              <a:t>G4 loci are disrupted LESS often than matched control regions of the same genome —</a:t>
            </a:r>
          </a:p>
          <a:p>
            <a:pPr algn="l">
              <a:lnSpc>
                <a:spcPct val="130000"/>
              </a:lnSpc>
            </a:pPr>
            <a:r>
              <a:rPr sz="1950" b="1" i="0">
                <a:solidFill>
                  <a:srgbClr val="1B3A5C"/>
                </a:solidFill>
                <a:latin typeface="Calibri"/>
              </a:rPr>
              <a:t>and that difference survives adjustment for GC content.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718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A6670"/>
                </a:solidFill>
                <a:latin typeface="Calibri"/>
              </a:rPr>
              <a:t>Three things have to be true at once, and each is a separate way to fail: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29000"/>
            <a:ext cx="3566160" cy="4445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61188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Calibri"/>
              </a:rPr>
              <a:t>1 · A real difference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05072"/>
            <a:ext cx="3566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Fisher exact test on the locus's clade-level disruption counts against those of its 5 matched controls, then Benjamini–Hochberg across the whole pre-specified set.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3429000"/>
            <a:ext cx="3566160" cy="44450"/>
          </a:xfrm>
          <a:prstGeom prst="rect">
            <a:avLst/>
          </a:prstGeom>
          <a:solidFill>
            <a:srgbClr val="D98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361188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8C1A"/>
                </a:solidFill>
                <a:latin typeface="Calibri"/>
              </a:rPr>
              <a:t>2 · In the right direction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4005072"/>
            <a:ext cx="3566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Lower, not merely different. Both tests are two-sided, so the sign is checked explicitly: a locus significantly MORE disrupted returns SIGNAL_OPPOSITE_DIRECTION.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0728" y="3429000"/>
            <a:ext cx="3566160" cy="4445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0728" y="361188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8A70"/>
                </a:solidFill>
                <a:latin typeface="Calibri"/>
              </a:rPr>
              <a:t>3 · Not just GC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8" y="4005072"/>
            <a:ext cx="3566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G4 sites are G-rich by definition and GC-rich sequence mutates differently. A pooled logistic model with flanking GC as a covariate must keep the locus term significant.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715000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0"/>
                </a:solidFill>
                <a:latin typeface="Calibri"/>
              </a:rPr>
              <a:t>Each locus therefore returns one of six verdicts, not a yes/no: SUPPORTED, NOT_SUPPORTED, SIGNAL_OPPOSITE_DIRECTION,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0"/>
                </a:solidFill>
                <a:latin typeface="Calibri"/>
              </a:rPr>
              <a:t>SIGNAL_EXPLAINED_BY_GC, INSUFFICIENT_DATA, or UNDERPOWERED. The distinction between the last two and "no effect" is the 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Implemented in g4watch/validation/dh1_gate.py; every verdict is written to an append-only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Seven stages, in a fixed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57276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0 · Atlas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819656"/>
            <a:ext cx="14264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predict G4 loci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on the reference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1408" y="1956816"/>
            <a:ext cx="146304" cy="31750"/>
          </a:xfrm>
          <a:prstGeom prst="rect">
            <a:avLst/>
          </a:prstGeom>
          <a:solidFill>
            <a:srgbClr val="C3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50008" y="1417320"/>
            <a:ext cx="157276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1448" y="1536192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 · QC + align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19656"/>
            <a:ext cx="14264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drop incomplete,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undated genomes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8496" y="1956816"/>
            <a:ext cx="146304" cy="31750"/>
          </a:xfrm>
          <a:prstGeom prst="rect">
            <a:avLst/>
          </a:prstGeom>
          <a:solidFill>
            <a:srgbClr val="C3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97096" y="1417320"/>
            <a:ext cx="157276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536192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1.5 · Recombination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1819656"/>
            <a:ext cx="14264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PHI test —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mandatory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15584" y="1956816"/>
            <a:ext cx="146304" cy="31750"/>
          </a:xfrm>
          <a:prstGeom prst="rect">
            <a:avLst/>
          </a:prstGeom>
          <a:solidFill>
            <a:srgbClr val="C3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44184" y="1417320"/>
            <a:ext cx="157276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536192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 · Phylogeny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1819656"/>
            <a:ext cx="14264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ML tree,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time-scaled root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62672" y="1956816"/>
            <a:ext cx="146304" cy="31750"/>
          </a:xfrm>
          <a:prstGeom prst="rect">
            <a:avLst/>
          </a:prstGeom>
          <a:solidFill>
            <a:srgbClr val="C3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91272" y="1417320"/>
            <a:ext cx="157276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82712" y="1536192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3 · Variants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4424" y="1819656"/>
            <a:ext cx="14264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call against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reference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956816"/>
            <a:ext cx="146304" cy="31750"/>
          </a:xfrm>
          <a:prstGeom prst="rect">
            <a:avLst/>
          </a:prstGeom>
          <a:solidFill>
            <a:srgbClr val="C3C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38360" y="1417320"/>
            <a:ext cx="1572768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536192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4 ·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1819656"/>
            <a:ext cx="142646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per-locus disruption,</a:t>
            </a:r>
          </a:p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GC control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788920"/>
            <a:ext cx="11201400" cy="868680"/>
          </a:xfrm>
          <a:prstGeom prst="rect">
            <a:avLst/>
          </a:prstGeom>
          <a:solidFill>
            <a:srgbClr val="D98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2916936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GATE  ·  D.H1 must return SUPPORTED, and the config must set operational_mode: true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255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Both conditions, checked in code against a persisted ledger — editing the workflow cannot open the gate.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977639"/>
            <a:ext cx="5486400" cy="10515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96511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 ·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4379975"/>
            <a:ext cx="53400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G4-EWS score, CUSUM / EWMA control limits, detection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8" y="3977639"/>
            <a:ext cx="5468112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4096511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6 · Reporting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379975"/>
            <a:ext cx="53218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report card, gate status, provenance — ALWAYS runs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303520"/>
            <a:ext cx="11155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A6670"/>
                </a:solidFill>
                <a:latin typeface="Calibri"/>
              </a:rPr>
              <a:t>Stage 1.5 has no skip flag. Reconstructing ancestral states across a recombinant alignment reconstructs a history that never happened, so the screen is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A6670"/>
                </a:solidFill>
                <a:latin typeface="Calibri"/>
              </a:rPr>
              <a:t>mandatory for every pathogen. Stage 6 runs whatever the gate says: a blocked run still produces a report explaining what blocked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Orchestrated with Nextflow DSL2. Tools: MAFFT · PhiPack · IQ-TREE 2 · TreeTime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THE WORKFLOW, IN ONE FIGURE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Where everything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97280"/>
            <a:ext cx="11430000" cy="52338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30936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A6670"/>
                </a:solidFill>
                <a:latin typeface="Calibri"/>
              </a:rPr>
              <a:t>Green bands are the statistical gates; red is the outcome. Two bands go UP — the alignment adds the reference, which is why 936 follows 935.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FMDV2026 throughout — one pathogen end to end, not totals that mix corpora stopped at different stages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BEFORE ANY TEST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minimum-data floor, fixed in advance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22A30"/>
                </a:solidFill>
                <a:latin typeface="Calibri"/>
              </a:rPr>
              <a:t>A statistic computed on four sequences is not a weak result — it is not a result. Every locus is checked against these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22A30"/>
                </a:solidFill>
                <a:latin typeface="Calibri"/>
              </a:rPr>
              <a:t>thresholds first, and a locus that fails them returns INSUFFICIENT_DATA rather than a number nobody should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14600"/>
            <a:ext cx="2103120" cy="141732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670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1B3A5C"/>
                </a:solidFill>
                <a:latin typeface="Calibr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sequences in the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analysis window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2514600"/>
            <a:ext cx="2103120" cy="141732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2670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1B3A5C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2461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sequences in every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lineage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0056" y="2514600"/>
            <a:ext cx="2103120" cy="141732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0056" y="2670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32461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distinct sampling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timepoints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78624" y="2514600"/>
            <a:ext cx="2103120" cy="141732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8624" y="2670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1B3A5C"/>
                </a:solidFill>
                <a:latin typeface="Calibri"/>
              </a:rPr>
              <a:t>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624" y="32461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metadata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completeness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37192" y="2514600"/>
            <a:ext cx="2103120" cy="141732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37192" y="2670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7192" y="32461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informative clades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per group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343400"/>
            <a:ext cx="50800" cy="155448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370832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Why this is a threshold and not a list of exclusions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Writing down which lineages to drop AFTER seeing the corpus is selection on the outcome. A threshold is a property of sampling,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knowable before any test runs, and it lives in the config — so a run stays fully described by (commit, config, accession list).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g4watch/validation/minimum_data_gate.py — thresholds from Build Architecture Appendix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WHAT IT WAS RUN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Eleven pathogens, real GenBank corpora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3938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670"/>
                </a:solidFill>
                <a:latin typeface="Calibri"/>
              </a:rPr>
              <a:t>Ten livestock viruses across four genome types — positive- and negative-sense RNA, segmented dsRNA, and large dsDNA — plus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670"/>
                </a:solidFill>
                <a:latin typeface="Calibri"/>
              </a:rPr>
              <a:t>Epstein–Barr virus as a cross-species check on a GC-rich human herpesvirus. No synthetic sequence appears in any of these counts; the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670"/>
                </a:solidFill>
                <a:latin typeface="Calibri"/>
              </a:rPr>
              <a:t>synthetic datasets used to test the software live separately under data/synthetic/ and are prefixed SYNTH-.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Counted from config/*.yaml and the aligned FASTA on disk by overview_assets/make_figures.py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Atlas: plenty of predictions, little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61872"/>
            <a:ext cx="9144000" cy="39653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670"/>
                </a:solidFill>
                <a:latin typeface="Calibri"/>
              </a:rPr>
              <a:t>Prediction is cheap; evidence is not. A locus reaches SC only when its conservation across phylogenetically independent lineages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670"/>
                </a:solidFill>
                <a:latin typeface="Calibri"/>
              </a:rPr>
              <a:t>supports it, and that conservation is computed from the alignment — deliberately NOT from the disruption rate, which would make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A6670"/>
                </a:solidFill>
                <a:latin typeface="Calibri"/>
              </a:rPr>
              <a:t>eligibility restate the very outcome D.H1 is meant to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Tiers: EC / BC / SC / MC / WC / AA. Scoring eligibility is SC and above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RESULT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D.H1 test on its best-powered corpus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d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4892040" cy="45870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72200" y="1463040"/>
            <a:ext cx="5532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37 loci were tested on FMDV2026 (936 genomes, the deepest corpus here). 19 did not clear the data floor.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Of the 18 that did: 15 NOT_SUPPORTED, 2 explained by GC, 1 significant in the opposite direction.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900" b="1" i="0">
                <a:solidFill>
                  <a:srgbClr val="C0392B"/>
                </a:solidFill>
                <a:latin typeface="Calibri"/>
              </a:rPr>
              <a:t>▪  Zero SUPPORTED.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Most loci do sit below the diagonal — the direction D.H1 predicts — but none of those differences survive GC adjustment and FDR correction. A trend that does not reach significance is not a finding.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50" b="0" i="0">
                <a:solidFill>
                  <a:srgbClr val="C0392B"/>
                </a:solidFill>
                <a:latin typeface="Calibri"/>
              </a:rPr>
              <a:t>▪  The one locus that IS significant sits above the diagonal: more disrupted than its controls, not less.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data/atlases/testing_ledger.tsv, latest run per pathogen. q = Benjamini-Hochberg adjusted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RESULT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one locus that moved — and it moved the wrong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201400" cy="1170432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0392B"/>
                </a:solidFill>
                <a:latin typeface="Consolas"/>
              </a:rPr>
              <a:t>FMDV2026-G4-004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670"/>
                </a:solidFill>
                <a:latin typeface="Consolas"/>
              </a:rPr>
              <a:t>nt 4313–4337  ·  CDS (polyprotein)  ·  RNA_G4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6304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0392B"/>
                </a:solidFill>
                <a:latin typeface="Calibri"/>
              </a:rPr>
              <a:t>0.775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02996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disruption, locus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B3A5C"/>
                </a:solidFill>
                <a:latin typeface="Calibri"/>
              </a:rPr>
              <a:t>0.288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02996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disruption,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1481328"/>
            <a:ext cx="1783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C0392B"/>
                </a:solidFill>
                <a:latin typeface="Calibri"/>
              </a:rPr>
              <a:t>1.08e-09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199339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q, GC-adjusted + FDR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400" b="0" i="0">
                <a:solidFill>
                  <a:srgbClr val="222A30"/>
                </a:solidFill>
                <a:latin typeface="Calibri"/>
              </a:rPr>
              <a:t>▪  Highly conserved: 94.86% across independent lineages — this is not a poorly aligned region.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400" b="0" i="0">
                <a:solidFill>
                  <a:srgbClr val="222A30"/>
                </a:solidFill>
                <a:latin typeface="Calibri"/>
              </a:rPr>
              <a:t>▪  Not a GC artefact: flanking GC is 55.56%, and the signal STRENGTHENED when GC-matched controls were used.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400" b="1" i="0">
                <a:solidFill>
                  <a:srgbClr val="1B3A5C"/>
                </a:solidFill>
                <a:latin typeface="Calibri"/>
              </a:rPr>
              <a:t>▪  Not a control artefact either. When control selection was rebuilt to stop it collapsing onto the genome's 5' end, p moved from 0.14 to 1.08e-09.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788920"/>
            <a:ext cx="5413248" cy="2148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99923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9FC7D8"/>
                </a:solidFill>
                <a:latin typeface="Calibri"/>
              </a:rPr>
              <a:t>THE CAVEAT THAT COMES WITH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4892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Disruption at this locus is strongly serotype-structured — Asia1 is nearly invariant (0.03) while SAT2 is completely diverged (1.00). The pathogen-level verdict pools lineages that behave very differently. Before this locus is interpreted biologically, D.H1 must be run per serotype.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623560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22A30"/>
                </a:solidFill>
                <a:latin typeface="Calibri"/>
              </a:rPr>
              <a:t>Read plainly: at the one locus in this study with a decisive signal, G4 sites are MORE labile than matched controls, not less.</a:t>
            </a:r>
          </a:p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22A30"/>
                </a:solidFill>
                <a:latin typeface="Calibri"/>
              </a:rPr>
              <a:t>That contradicts D.H1. It is a real measurement, and reporting it as anything else would be the only actual failure 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Serotype breakdown recorded in docs/revision_log.md; the superseded verdict is kept in the ledger, not overwritten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SO WHAT DOES IT OUTPUT TODAY?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closed gate, and the reason for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A30"/>
                </a:solidFill>
                <a:latin typeface="Calibri"/>
              </a:rPr>
              <a:t>Across all eleven pathogens, the testing ledger currently holds no SUPPORTED D.H1 verdict. So: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50800" cy="56692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F8A70"/>
                </a:solidFill>
                <a:latin typeface="Calibri"/>
              </a:rPr>
              <a:t>Produced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830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G4 Reference Atlas per pathogen · QC report · reference-anchored alignment · recombination screen · ML tree and time-scaled root · variant table · per-locus disruption rates · GC control gate · D.H1 verdict · report card · full provenance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97480"/>
            <a:ext cx="50800" cy="5669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974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0392B"/>
                </a:solidFill>
                <a:latin typeface="Calibri"/>
              </a:rPr>
              <a:t>NOT produced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69748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G4-EWS surveillance score · CUSUM / EWMA control limits · detection calls · any statement that a pathogen is or is not changing at a G4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0332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3A5C"/>
                </a:solidFill>
                <a:latin typeface="Calibri"/>
              </a:rPr>
              <a:t>What the tool says when you ask it to score anyway: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69080"/>
            <a:ext cx="11201400" cy="1207008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24528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FMDV2026: Stage 5 scoring is BLOCKED — at least one locus shows a real,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GC-adjustment-surviving effect that runs AGAINST D.H1: it is MORE disrupted than its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matched control, not less. This is evidence against the hypothesis, not an absence of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evidence for it, and it is reported separately for that reason.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4068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This is the designed behaviour, not a broken run. A score computed from a hypothesis its own data does not support would be a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222A30"/>
                </a:solidFill>
                <a:latin typeface="Calibri"/>
              </a:rPr>
              <a:t>number with nothing behind it — and it would look exactly like a number with something behind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Quoted verbatim from `g4watch score --pathogen fmdv2026`, which exits 3 rather than emitting a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this does not yet establish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864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Predictions, not structures.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Every locus here is computational. No G4 in this Atlas has been confirmed in vitro by CD spectroscopy or NMR.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One test, one corpus.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Only FMDV2026 and its serotype-O subset have cleared the floor for enough loci to test. Eight pathogens have no D.H1 verdict at all.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Lineage pooling.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The pathogen-level verdict treats each corpus as one population. G4-004 shows that can hide large between-lineage differences.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Sampling is opportunistic.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GenBank is not a survey. Country and year distributions reflect who sequenced what, not where the virus was.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The control-limit calibration is short.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Baselines are annual and few, so limits carry explicit uncertainty intervals rather than being quoted as exact numbers.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No clinical or field validation.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Nothing here has been tested against outbreak outcomes. This is a hypothesis-testing framework, not a diagnostic.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11201400" cy="13716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02352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B3A5C"/>
                </a:solidFill>
                <a:latin typeface="Calibri"/>
              </a:rPr>
              <a:t>None of these limits is a reason to distrust the negative result.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B3A5C"/>
                </a:solidFill>
                <a:latin typeface="Calibri"/>
              </a:rPr>
              <a:t>A framework that could not return a negative result would be the thing worth distrusting. What they do bound is how far it</a:t>
            </a:r>
          </a:p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B3A5C"/>
                </a:solidFill>
                <a:latin typeface="Calibri"/>
              </a:rPr>
              <a:t>generalises: one hypothesis, one well-powered corpus, computational predictions, and no field validation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Recorded in docs/validation_report.md and docs/revision_log.md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Every parameter that changes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78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0 · G4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3578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G4Hunter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3578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window 25 · |score| ≥ 1.2 · flank 100 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007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regex motif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7007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enabled · concordance at ≥ 80% overlap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0436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not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0436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G4RNA screener (Python 2 only) · pqsfinder (DNA-scoped)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865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1 · QC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3865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thresholds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3865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completeness ≥ 0.90 · N ≤ 0.05 · year-precision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517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294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1 ·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7294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MAFFT v7.526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7294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--auto --keeplength --addfragments · gap cap 0.50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0723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1.5 · Recombination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0723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PhiPack 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0723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α = 0.05 · mandatory · tier: standard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375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152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2 · Phylogeny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4152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IQ-TREE 2.3.6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4152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GTR+F+I+G4 · 1,000 UFBoot · seed 20250823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7581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TreeTime 0.11.4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7581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least-squares reroot · clock filter 3.0 IQD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0233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41010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ancestral states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10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ape::ace on the DIVERGENCE tree, not the timetree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4439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4 · Controls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4439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per locus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44439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5 controls · length ±10% · GC ±5% · 50 nt buffer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091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0" y="47868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matched 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0" y="47868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the locus's own compartment (5'UTR / CDS / 3'UTR)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129784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Stage 4.5 · D.H1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1297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tests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51297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Fisher exact + pooled GC-adjusted logistic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394960"/>
            <a:ext cx="11201400" cy="3429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83280" y="54726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correction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54726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Benjamini–Hochberg · α = 0.05 · decision: GC-adjusted alone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581558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analysis set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581558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A30"/>
                </a:solidFill>
                <a:latin typeface="Consolas"/>
              </a:rPr>
              <a:t>loci in ≥ 20 genomes — pre-specified, score-blind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D98C1A"/>
                </a:solidFill>
                <a:latin typeface="Calibri"/>
              </a:rPr>
              <a:t>Two of these moved after data were seen, and both are recorded as post-hoc: the SC operating point (R-11) and the GC-adjusted decision rule (R-12).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config/fmdv2026.yaml and `g4watch doctor`. Changing any of these changes the result, so none is buried in nextflow.config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05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FC7D8"/>
                </a:solidFill>
                <a:latin typeface="Calibri"/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run is described by three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18288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8A7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2763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3A5C"/>
                </a:solidFill>
                <a:latin typeface="Calibri"/>
              </a:rPr>
              <a:t>The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22A30"/>
                </a:solidFill>
                <a:latin typeface="Calibri"/>
              </a:rPr>
              <a:t>Every stage records the git commit it ran under. Analysis code and configuration are versioned together.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6824" y="1371600"/>
            <a:ext cx="3566160" cy="18288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53619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8A70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162763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3A5C"/>
                </a:solidFill>
                <a:latin typeface="Calibri"/>
              </a:rPr>
              <a:t>The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12140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22A30"/>
                </a:solidFill>
                <a:latin typeface="Calibri"/>
              </a:rPr>
              <a:t>One YAML per pathogen: reference accession, corpus paths, QC thresholds, model, seed, and every exclusion rule.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0728" y="1371600"/>
            <a:ext cx="3566160" cy="18288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153619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8A70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162763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3A5C"/>
                </a:solidFill>
                <a:latin typeface="Calibri"/>
              </a:rPr>
              <a:t>The accession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12140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22A30"/>
                </a:solidFill>
                <a:latin typeface="Calibri"/>
              </a:rPr>
              <a:t>The exact GenBank records fetched. The acquisition step is a separate entry point so an analysis run can never silently re-fetch and change its own inputs.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Run it: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86200"/>
            <a:ext cx="11201400" cy="105156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69080"/>
            <a:ext cx="10698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B3A5C"/>
                </a:solidFill>
                <a:latin typeface="Consolas"/>
              </a:rPr>
              <a:t>nextflow run workflow/main.nf --pathogen fmdv2026 -profile docker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B3A5C"/>
                </a:solidFill>
                <a:latin typeface="Consolas"/>
              </a:rPr>
              <a:t>g4watch gate-status --pathogen fmdv2026        # never blocked; reports why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6636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B3A5C"/>
                </a:solidFill>
                <a:latin typeface="Calibri"/>
              </a:rPr>
              <a:t>1,199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7332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automated tests passing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16636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B3A5C"/>
                </a:solidFill>
                <a:latin typeface="Calibr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7332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pathogens provisioned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16636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B3A5C"/>
                </a:solidFill>
                <a:latin typeface="Calibri"/>
              </a:rPr>
              <a:t>6,485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7332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genomes aligned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16636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B3A5C"/>
                </a:solidFill>
                <a:latin typeface="Calibri"/>
              </a:rPr>
              <a:t>append-only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57332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670"/>
                </a:solidFill>
                <a:latin typeface="Calibri"/>
              </a:rPr>
              <a:t>testing ledger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A6670"/>
                </a:solidFill>
                <a:latin typeface="Calibri"/>
              </a:rPr>
              <a:t>Profiles: docker · singularity · conda_free · slurm · awsbatch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A66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371600" cy="508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framework works. The hypothesis,</a:t>
            </a:r>
          </a:p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so far, does not hold.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 i="0">
                <a:solidFill>
                  <a:srgbClr val="9FC7D8"/>
                </a:solidFill>
                <a:latin typeface="Calibri"/>
              </a:rPr>
              <a:t>Eleven pathogens, 6,485 genomes and an end-to-end pipeline that runs, records what it did, and refuses to score when its</a:t>
            </a:r>
          </a:p>
          <a:p>
            <a:pPr algn="l">
              <a:lnSpc>
                <a:spcPct val="140000"/>
              </a:lnSpc>
            </a:pPr>
            <a:r>
              <a:rPr sz="1550" b="0" i="0">
                <a:solidFill>
                  <a:srgbClr val="9FC7D8"/>
                </a:solidFill>
                <a:latin typeface="Calibri"/>
              </a:rPr>
              <a:t>own gate is closed. At the one locus with a decisive signal, G4 sites are more labile than matched controls — the opposite</a:t>
            </a:r>
          </a:p>
          <a:p>
            <a:pPr algn="l">
              <a:lnSpc>
                <a:spcPct val="140000"/>
              </a:lnSpc>
            </a:pPr>
            <a:r>
              <a:rPr sz="1550" b="0" i="0">
                <a:solidFill>
                  <a:srgbClr val="9FC7D8"/>
                </a:solidFill>
                <a:latin typeface="Calibri"/>
              </a:rPr>
              <a:t>of what D.H1 predicts. The next step is to test that per serotype, and to get more pathogens past the data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EA3B8"/>
                </a:solidFill>
                <a:latin typeface="Calibri"/>
              </a:rPr>
              <a:t>ICAR–NIVEDI  ·  G4-WATCH  ·  research framework, not a validated diagnostic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