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371600" cy="5080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7D8"/>
                </a:solidFill>
                <a:latin typeface="Calibri"/>
              </a:rPr>
              <a:t>ICAR–NIVEDI  ·  GENOMIC SURVEILLANCE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G4-WATCH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37560"/>
            <a:ext cx="9692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100" b="0" i="0">
                <a:solidFill>
                  <a:srgbClr val="FFFFFF"/>
                </a:solidFill>
                <a:latin typeface="Calibri"/>
              </a:rPr>
              <a:t>Do G-quadruplex sites in livestock virus genomes behave differently</a:t>
            </a:r>
          </a:p>
          <a:p>
            <a:pPr algn="l">
              <a:lnSpc>
                <a:spcPct val="128000"/>
              </a:lnSpc>
            </a:pPr>
            <a:r>
              <a:rPr sz="2100" b="0" i="0">
                <a:solidFill>
                  <a:srgbClr val="FFFFFF"/>
                </a:solidFill>
                <a:latin typeface="Calibri"/>
              </a:rPr>
              <a:t>from the rest of the genome — and can that be used as an early warning?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9204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9FC7D8"/>
                </a:solidFill>
                <a:latin typeface="Calibri"/>
              </a:rPr>
              <a:t>How the pipeline works, and what it found across 11 pathogens and 6,485 genomes.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533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7EA3B8"/>
                </a:solidFill>
                <a:latin typeface="Calibri"/>
              </a:rPr>
              <a:t>Research framework — not a validated diagnostic. No output here should drive a control decision on its own.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FC7D8"/>
                </a:solidFill>
                <a:latin typeface="Calibri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38328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A G-quadruplex is a structure, not just a sequence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59436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1550" b="0" i="0">
                <a:solidFill>
                  <a:srgbClr val="222A30"/>
                </a:solidFill>
                <a:latin typeface="Calibri"/>
              </a:rPr>
              <a:t>▪  Four runs of guanine can fold the strand back on itself into a stacked four-stranded knot — a G-quadruplex, or G4.</a:t>
            </a:r>
          </a:p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1550" b="0" i="0">
                <a:solidFill>
                  <a:srgbClr val="222A30"/>
                </a:solidFill>
                <a:latin typeface="Calibri"/>
              </a:rPr>
              <a:t>▪  Where one forms, it physically obstructs the machinery that copies and reads the genome. Viruses that carry one are under pressure either to keep it or to lose it.</a:t>
            </a:r>
          </a:p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1550" b="0" i="0">
                <a:solidFill>
                  <a:srgbClr val="222A30"/>
                </a:solidFill>
                <a:latin typeface="Calibri"/>
              </a:rPr>
              <a:t>▪  That makes a G4 site a candidate place to watch: if a virus population starts losing or gaining structure at a known site, something about its biology is changing.</a:t>
            </a:r>
          </a:p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1550" b="1" i="0">
                <a:solidFill>
                  <a:srgbClr val="1B3A5C"/>
                </a:solidFill>
                <a:latin typeface="Calibri"/>
              </a:rPr>
              <a:t>▪  The whole framework rests on one testable claim about that — stated on the next slide. It is stated as a claim precisely so it can fail.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1417320"/>
            <a:ext cx="4937760" cy="3977639"/>
          </a:xfrm>
          <a:prstGeom prst="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645920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3A5C"/>
                </a:solidFill>
                <a:latin typeface="Calibri"/>
              </a:rPr>
              <a:t>WHAT THE PIPELINE STORES PER 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057400"/>
            <a:ext cx="43891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300" b="0" i="0">
                <a:solidFill>
                  <a:srgbClr val="5A6670"/>
                </a:solidFill>
                <a:latin typeface="Calibri"/>
              </a:rPr>
              <a:t>▪  Position on the reference genome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300" b="0" i="0">
                <a:solidFill>
                  <a:srgbClr val="5A6670"/>
                </a:solidFill>
                <a:latin typeface="Calibri"/>
              </a:rPr>
              <a:t>▪  G4Hunter score and predicted topology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300" b="0" i="0">
                <a:solidFill>
                  <a:srgbClr val="5A6670"/>
                </a:solidFill>
                <a:latin typeface="Calibri"/>
              </a:rPr>
              <a:t>▪  Gene feature and strand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300" b="0" i="0">
                <a:solidFill>
                  <a:srgbClr val="5A6670"/>
                </a:solidFill>
                <a:latin typeface="Calibri"/>
              </a:rPr>
              <a:t>▪  GC content of the flanking sequence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300" b="0" i="0">
                <a:solidFill>
                  <a:srgbClr val="5A6670"/>
                </a:solidFill>
                <a:latin typeface="Calibri"/>
              </a:rPr>
              <a:t>▪  Conservation across the phylogeny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300" b="0" i="0">
                <a:solidFill>
                  <a:srgbClr val="5A6670"/>
                </a:solidFill>
                <a:latin typeface="Calibri"/>
              </a:rPr>
              <a:t>▪  A structural-confidence tier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4526280"/>
            <a:ext cx="4389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1">
                <a:solidFill>
                  <a:srgbClr val="1B3A5C"/>
                </a:solidFill>
                <a:latin typeface="Calibri"/>
              </a:rPr>
              <a:t>Together these are the G4 Reference Atlas. It is fixed before any</a:t>
            </a:r>
          </a:p>
          <a:p>
            <a:pPr algn="l">
              <a:lnSpc>
                <a:spcPct val="120000"/>
              </a:lnSpc>
            </a:pPr>
            <a:r>
              <a:rPr sz="1150" b="0" i="1">
                <a:solidFill>
                  <a:srgbClr val="1B3A5C"/>
                </a:solidFill>
                <a:latin typeface="Calibri"/>
              </a:rPr>
              <a:t>statistical test runs, so the loci cannot be chosen after seeing the answer.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A6670"/>
                </a:solidFill>
                <a:latin typeface="Calibri"/>
              </a:rPr>
              <a:t>Atlas schema: data/atlases/G4_Reference_Atlas_v*.tsv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A667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FC7D8"/>
                </a:solidFill>
                <a:latin typeface="Calibri"/>
              </a:rPr>
              <a:t>THE CLAIM UNDER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38328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D.H1 — a directional hypothesis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D9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1201400" cy="1371600"/>
          </a:xfrm>
          <a:prstGeom prst="rect">
            <a:avLst/>
          </a:prstGeom>
          <a:solidFill>
            <a:srgbClr val="EEF1F3"/>
          </a:solidFill>
          <a:ln w="12700">
            <a:solidFill>
              <a:srgbClr val="CE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27632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950" b="1" i="0">
                <a:solidFill>
                  <a:srgbClr val="1B3A5C"/>
                </a:solidFill>
                <a:latin typeface="Calibri"/>
              </a:rPr>
              <a:t>G4 loci are disrupted LESS often than matched control regions of the same genome —</a:t>
            </a:r>
          </a:p>
          <a:p>
            <a:pPr algn="l">
              <a:lnSpc>
                <a:spcPct val="130000"/>
              </a:lnSpc>
            </a:pPr>
            <a:r>
              <a:rPr sz="1950" b="1" i="0">
                <a:solidFill>
                  <a:srgbClr val="1B3A5C"/>
                </a:solidFill>
                <a:latin typeface="Calibri"/>
              </a:rPr>
              <a:t>and that difference survives adjustment for GC content.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7180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A6670"/>
                </a:solidFill>
                <a:latin typeface="Calibri"/>
              </a:rPr>
              <a:t>Three things have to be true at once, and each is a separate way to fail: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429000"/>
            <a:ext cx="3566160" cy="4445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611880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3A5C"/>
                </a:solidFill>
                <a:latin typeface="Calibri"/>
              </a:rPr>
              <a:t>1 · A real difference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005072"/>
            <a:ext cx="35661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222A30"/>
                </a:solidFill>
                <a:latin typeface="Calibri"/>
              </a:rPr>
              <a:t>The locus disruption rate must differ from its matched controls by more than chance, after Benjamini–Hochberg correction across every locus tested.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6824" y="3429000"/>
            <a:ext cx="3566160" cy="44450"/>
          </a:xfrm>
          <a:prstGeom prst="rect">
            <a:avLst/>
          </a:prstGeom>
          <a:solidFill>
            <a:srgbClr val="D9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6824" y="3611880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98C1A"/>
                </a:solidFill>
                <a:latin typeface="Calibri"/>
              </a:rPr>
              <a:t>2 · In the right direction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6824" y="4005072"/>
            <a:ext cx="35661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222A30"/>
                </a:solidFill>
                <a:latin typeface="Calibri"/>
              </a:rPr>
              <a:t>Lower, not merely different. A locus that is significantly MORE disrupted contradicts D.H1 — it does not support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10728" y="3429000"/>
            <a:ext cx="3566160" cy="4445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0728" y="3611880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8A70"/>
                </a:solidFill>
                <a:latin typeface="Calibri"/>
              </a:rPr>
              <a:t>3 · Not just GC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0728" y="4005072"/>
            <a:ext cx="35661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222A30"/>
                </a:solidFill>
                <a:latin typeface="Calibri"/>
              </a:rPr>
              <a:t>G4 sites are G-rich by definition, and GC-rich DNA mutates differently. The difference must survive GC adjustment or it is a composition artefact.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71500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A6670"/>
                </a:solidFill>
                <a:latin typeface="Calibri"/>
              </a:rPr>
              <a:t>Each locus therefore returns one of six verdicts, not a yes/no: SUPPORTED, NOT_SUPPORTED, SIGNAL_OPPOSITE_DIRECTION,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A6670"/>
                </a:solidFill>
                <a:latin typeface="Calibri"/>
              </a:rPr>
              <a:t>SIGNAL_EXPLAINED_BY_GC, INSUFFICIENT_DATA, or UNDERPOWERED. The distinction between the last two and "no effect" is the point.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A6670"/>
                </a:solidFill>
                <a:latin typeface="Calibri"/>
              </a:rPr>
              <a:t>Implemented in g4watch/validation/dh1_gate.py; every verdict is written to an append-only ledger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A667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FC7D8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38328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Seven stages, in a fixed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572768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36192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0 · Atlas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819656"/>
            <a:ext cx="142646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predict G4 loci</a:t>
            </a:r>
          </a:p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on the reference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2121408" y="1956816"/>
            <a:ext cx="146304" cy="31750"/>
          </a:xfrm>
          <a:prstGeom prst="rect">
            <a:avLst/>
          </a:prstGeom>
          <a:solidFill>
            <a:srgbClr val="C3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50008" y="1417320"/>
            <a:ext cx="1572768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41448" y="1536192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1 · QC + align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1819656"/>
            <a:ext cx="142646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drop incomplete,</a:t>
            </a:r>
          </a:p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undated genomes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68496" y="1956816"/>
            <a:ext cx="146304" cy="31750"/>
          </a:xfrm>
          <a:prstGeom prst="rect">
            <a:avLst/>
          </a:prstGeom>
          <a:solidFill>
            <a:srgbClr val="C3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97096" y="1417320"/>
            <a:ext cx="1572768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8536" y="1536192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1.5 · Recombination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0248" y="1819656"/>
            <a:ext cx="142646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PHI test —</a:t>
            </a:r>
          </a:p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mandatory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15584" y="1956816"/>
            <a:ext cx="146304" cy="31750"/>
          </a:xfrm>
          <a:prstGeom prst="rect">
            <a:avLst/>
          </a:prstGeom>
          <a:solidFill>
            <a:srgbClr val="C3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44184" y="1417320"/>
            <a:ext cx="1572768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35624" y="1536192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2 · Phylogeny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1819656"/>
            <a:ext cx="142646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ML tree,</a:t>
            </a:r>
          </a:p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time-scaled root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62672" y="1956816"/>
            <a:ext cx="146304" cy="31750"/>
          </a:xfrm>
          <a:prstGeom prst="rect">
            <a:avLst/>
          </a:prstGeom>
          <a:solidFill>
            <a:srgbClr val="C3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91272" y="1417320"/>
            <a:ext cx="1572768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82712" y="1536192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3 · Variants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64424" y="1819656"/>
            <a:ext cx="142646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call against</a:t>
            </a:r>
          </a:p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the reference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0" y="1956816"/>
            <a:ext cx="146304" cy="31750"/>
          </a:xfrm>
          <a:prstGeom prst="rect">
            <a:avLst/>
          </a:prstGeom>
          <a:solidFill>
            <a:srgbClr val="C3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38360" y="1417320"/>
            <a:ext cx="1572768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9800" y="1536192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4 · Metrics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11512" y="1819656"/>
            <a:ext cx="142646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per-locus disruption,</a:t>
            </a:r>
          </a:p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GC control gate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2788920"/>
            <a:ext cx="11201400" cy="868680"/>
          </a:xfrm>
          <a:prstGeom prst="rect">
            <a:avLst/>
          </a:prstGeom>
          <a:solidFill>
            <a:srgbClr val="D9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2916936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GATE  ·  D.H1 must return SUPPORTED, and the config must set operational_mode: true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3255264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Both conditions, checked in code against a persisted ledger — editing the workflow cannot open the gate.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977639"/>
            <a:ext cx="5486400" cy="105156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4096511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5 · Scoring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" y="4379975"/>
            <a:ext cx="534009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G4-EWS score, CUSUM / EWMA control limits, detection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6208" y="3977639"/>
            <a:ext cx="5468112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27648" y="4096511"/>
            <a:ext cx="5285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6 · Reporting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379975"/>
            <a:ext cx="532180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report card, gate status, provenance — ALWAYS runs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303520"/>
            <a:ext cx="11155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A6670"/>
                </a:solidFill>
                <a:latin typeface="Calibri"/>
              </a:rPr>
              <a:t>Stage 1.5 has no skip flag. Reconstructing ancestral states across a recombinant alignment reconstructs a history that never happened, so the screen is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A6670"/>
                </a:solidFill>
                <a:latin typeface="Calibri"/>
              </a:rPr>
              <a:t>mandatory for every pathogen. Stage 6 runs whatever the gate says: a blocked run still produces a report explaining what blocked it.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510528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A6670"/>
                </a:solidFill>
                <a:latin typeface="Calibri"/>
              </a:rPr>
              <a:t>Orchestrated with Nextflow DSL2. Tools: MAFFT · PhiPack · IQ-TREE 2 · TreeTime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A667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FC7D8"/>
                </a:solidFill>
                <a:latin typeface="Calibri"/>
              </a:rPr>
              <a:t>BEFORE ANY TEST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38328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A minimum-data floor, fixed in advance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A30"/>
                </a:solidFill>
                <a:latin typeface="Calibri"/>
              </a:rPr>
              <a:t>A statistic computed on four sequences is not a weak result — it is not a result. Every locus is checked against these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A30"/>
                </a:solidFill>
                <a:latin typeface="Calibri"/>
              </a:rPr>
              <a:t>thresholds first, and a locus that fails them returns INSUFFICIENT_DATA rather than a number nobody should read.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514600"/>
            <a:ext cx="2103120" cy="1417320"/>
          </a:xfrm>
          <a:prstGeom prst="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670048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A5C"/>
                </a:solidFill>
                <a:latin typeface="Calibri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4612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5A6670"/>
                </a:solidFill>
                <a:latin typeface="Calibri"/>
              </a:rPr>
              <a:t>sequences in the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5A6670"/>
                </a:solidFill>
                <a:latin typeface="Calibri"/>
              </a:rPr>
              <a:t>analysis window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61488" y="2514600"/>
            <a:ext cx="2103120" cy="1417320"/>
          </a:xfrm>
          <a:prstGeom prst="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61488" y="2670048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A5C"/>
                </a:solidFill>
                <a:latin typeface="Calibri"/>
              </a:rPr>
              <a:t>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61488" y="324612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5A6670"/>
                </a:solidFill>
                <a:latin typeface="Calibri"/>
              </a:rPr>
              <a:t>sequences in every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5A6670"/>
                </a:solidFill>
                <a:latin typeface="Calibri"/>
              </a:rPr>
              <a:t>lineage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0056" y="2514600"/>
            <a:ext cx="2103120" cy="1417320"/>
          </a:xfrm>
          <a:prstGeom prst="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0056" y="2670048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0056" y="324612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5A6670"/>
                </a:solidFill>
                <a:latin typeface="Calibri"/>
              </a:rPr>
              <a:t>distinct sampling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5A6670"/>
                </a:solidFill>
                <a:latin typeface="Calibri"/>
              </a:rPr>
              <a:t>timepoints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78624" y="2514600"/>
            <a:ext cx="2103120" cy="1417320"/>
          </a:xfrm>
          <a:prstGeom prst="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78624" y="2670048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A5C"/>
                </a:solidFill>
                <a:latin typeface="Calibri"/>
              </a:rPr>
              <a:t>90%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78624" y="324612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5A6670"/>
                </a:solidFill>
                <a:latin typeface="Calibri"/>
              </a:rPr>
              <a:t>metadata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5A6670"/>
                </a:solidFill>
                <a:latin typeface="Calibri"/>
              </a:rPr>
              <a:t>completeness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37192" y="2514600"/>
            <a:ext cx="2103120" cy="1417320"/>
          </a:xfrm>
          <a:prstGeom prst="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37192" y="2670048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7192" y="324612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5A6670"/>
                </a:solidFill>
                <a:latin typeface="Calibri"/>
              </a:rPr>
              <a:t>informative clades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5A6670"/>
                </a:solidFill>
                <a:latin typeface="Calibri"/>
              </a:rPr>
              <a:t>per group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343400"/>
            <a:ext cx="50800" cy="155448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370832"/>
            <a:ext cx="10789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222A30"/>
                </a:solidFill>
                <a:latin typeface="Calibri"/>
              </a:rPr>
              <a:t>Why this is a threshold and not a list of exclusions</a:t>
            </a:r>
          </a:p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222A30"/>
                </a:solidFill>
                <a:latin typeface="Calibri"/>
              </a:rPr>
              <a:t>Writing down which lineages to drop AFTER seeing the corpus is selection on the outcome. A threshold is a property of sampling,</a:t>
            </a:r>
          </a:p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222A30"/>
                </a:solidFill>
                <a:latin typeface="Calibri"/>
              </a:rPr>
              <a:t>knowable before any test runs, and it lives in the config — so a run stays fully described by (commit, config, accession list).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A6670"/>
                </a:solidFill>
                <a:latin typeface="Calibri"/>
              </a:rPr>
              <a:t>g4watch/validation/minimum_data_gate.py — thresholds from Build Architecture Appendix 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A667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FC7D8"/>
                </a:solidFill>
                <a:latin typeface="Calibri"/>
              </a:rPr>
              <a:t>WHAT IT WAS RUN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38328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Eleven pathogens, real GenBank corpora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corp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280160"/>
            <a:ext cx="9144000" cy="39387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44068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A6670"/>
                </a:solidFill>
                <a:latin typeface="Calibri"/>
              </a:rPr>
              <a:t>Ten livestock viruses across four genome types — positive- and negative-sense RNA, segmented dsRNA, and large dsDNA — plus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A6670"/>
                </a:solidFill>
                <a:latin typeface="Calibri"/>
              </a:rPr>
              <a:t>Epstein–Barr virus as a cross-species check on a GC-rich human herpesvirus. No synthetic sequence appears in any of these counts; the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A6670"/>
                </a:solidFill>
                <a:latin typeface="Calibri"/>
              </a:rPr>
              <a:t>synthetic datasets used to test the software live separately under data/synthetic/ and are prefixed SYNTH-.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A6670"/>
                </a:solidFill>
                <a:latin typeface="Calibri"/>
              </a:rPr>
              <a:t>Counted from config/*.yaml and the aligned FASTA on disk by overview_assets/make_figures.py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A667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FC7D8"/>
                </a:solidFill>
                <a:latin typeface="Calibri"/>
              </a:rPr>
              <a:t>RESULT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38328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Atlas: plenty of predictions, little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at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261872"/>
            <a:ext cx="9144000" cy="39653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44068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A6670"/>
                </a:solidFill>
                <a:latin typeface="Calibri"/>
              </a:rPr>
              <a:t>Prediction is cheap; evidence is not. A locus reaches SC only when its conservation across phylogenetically independent lineages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A6670"/>
                </a:solidFill>
                <a:latin typeface="Calibri"/>
              </a:rPr>
              <a:t>supports it, and that conservation is computed from the alignment — deliberately NOT from the disruption rate, which would make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A6670"/>
                </a:solidFill>
                <a:latin typeface="Calibri"/>
              </a:rPr>
              <a:t>eligibility restate the very outcome D.H1 is meant to test.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A6670"/>
                </a:solidFill>
                <a:latin typeface="Calibri"/>
              </a:rPr>
              <a:t>Tiers: EC / BC / SC / MC / WC / AA. Scoring eligibility is SC and above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A667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FC7D8"/>
                </a:solidFill>
                <a:latin typeface="Calibri"/>
              </a:rPr>
              <a:t>RESULT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38328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D.H1 test on its best-powered corpus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dh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88720"/>
            <a:ext cx="4892040" cy="45870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72200" y="1463040"/>
            <a:ext cx="5532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450" b="0" i="0">
                <a:solidFill>
                  <a:srgbClr val="222A30"/>
                </a:solidFill>
                <a:latin typeface="Calibri"/>
              </a:rPr>
              <a:t>▪  37 loci were tested on FMDV2026 (936 genomes, the deepest corpus here). 19 did not clear the data floor.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450" b="0" i="0">
                <a:solidFill>
                  <a:srgbClr val="222A30"/>
                </a:solidFill>
                <a:latin typeface="Calibri"/>
              </a:rPr>
              <a:t>▪  Of the 18 that did: 15 NOT_SUPPORTED, 2 explained by GC, 1 significant in the opposite direction.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900" b="1" i="0">
                <a:solidFill>
                  <a:srgbClr val="C0392B"/>
                </a:solidFill>
                <a:latin typeface="Calibri"/>
              </a:rPr>
              <a:t>▪  Zero SUPPORTED.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450" b="0" i="0">
                <a:solidFill>
                  <a:srgbClr val="222A30"/>
                </a:solidFill>
                <a:latin typeface="Calibri"/>
              </a:rPr>
              <a:t>▪  Most loci do sit below the diagonal — the direction D.H1 predicts — but none of those differences survive GC adjustment and FDR correction. A trend that does not reach significance is not a finding.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450" b="0" i="0">
                <a:solidFill>
                  <a:srgbClr val="C0392B"/>
                </a:solidFill>
                <a:latin typeface="Calibri"/>
              </a:rPr>
              <a:t>▪  The one locus that IS significant sits above the diagonal: more disrupted than its controls, not less.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A6670"/>
                </a:solidFill>
                <a:latin typeface="Calibri"/>
              </a:rPr>
              <a:t>data/atlases/testing_ledger.tsv, latest run per pathogen. q = Benjamini-Hochberg adjusted 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A667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FC7D8"/>
                </a:solidFill>
                <a:latin typeface="Calibri"/>
              </a:rPr>
              <a:t>RESULT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38328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one locus that moved — and it moved the wrong 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11201400" cy="1170432"/>
          </a:xfrm>
          <a:prstGeom prst="rect">
            <a:avLst/>
          </a:prstGeom>
          <a:solidFill>
            <a:srgbClr val="EEF1F3"/>
          </a:solidFill>
          <a:ln w="12700">
            <a:solidFill>
              <a:srgbClr val="CE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C0392B"/>
                </a:solidFill>
                <a:latin typeface="Consolas"/>
              </a:rPr>
              <a:t>FMDV2026-G4-004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5486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A6670"/>
                </a:solidFill>
                <a:latin typeface="Consolas"/>
              </a:rPr>
              <a:t>nt 4313–4337  ·  CDS (polyprotein)  ·  RNA_G4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63040"/>
            <a:ext cx="1691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0392B"/>
                </a:solidFill>
                <a:latin typeface="Calibri"/>
              </a:rPr>
              <a:t>0.775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029968"/>
            <a:ext cx="1691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6670"/>
                </a:solidFill>
                <a:latin typeface="Calibri"/>
              </a:rPr>
              <a:t>disruption, locus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463040"/>
            <a:ext cx="1691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B3A5C"/>
                </a:solidFill>
                <a:latin typeface="Calibri"/>
              </a:rPr>
              <a:t>0.288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029968"/>
            <a:ext cx="1691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6670"/>
                </a:solidFill>
                <a:latin typeface="Calibri"/>
              </a:rPr>
              <a:t>disruption,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1481328"/>
            <a:ext cx="1783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C0392B"/>
                </a:solidFill>
                <a:latin typeface="Calibri"/>
              </a:rPr>
              <a:t>1.08e-09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1993392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6670"/>
                </a:solidFill>
                <a:latin typeface="Calibri"/>
              </a:rPr>
              <a:t>q, GC-adjusted + FDR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788920"/>
            <a:ext cx="54864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1400" b="0" i="0">
                <a:solidFill>
                  <a:srgbClr val="222A30"/>
                </a:solidFill>
                <a:latin typeface="Calibri"/>
              </a:rPr>
              <a:t>▪  Highly conserved: 94.86% across independent lineages — this is not a poorly aligned region.</a:t>
            </a:r>
          </a:p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1400" b="0" i="0">
                <a:solidFill>
                  <a:srgbClr val="222A30"/>
                </a:solidFill>
                <a:latin typeface="Calibri"/>
              </a:rPr>
              <a:t>▪  Not a GC artefact: flanking GC is 55.56%, and the signal STRENGTHENED when GC-matched controls were used.</a:t>
            </a:r>
          </a:p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1400" b="1" i="0">
                <a:solidFill>
                  <a:srgbClr val="1B3A5C"/>
                </a:solidFill>
                <a:latin typeface="Calibri"/>
              </a:rPr>
              <a:t>▪  Not a control artefact either. When control selection was rebuilt to stop it collapsing onto the genome's 5' end, p moved from 0.14 to 1.08e-09.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788920"/>
            <a:ext cx="5413248" cy="21488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99923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9FC7D8"/>
                </a:solidFill>
                <a:latin typeface="Calibri"/>
              </a:rPr>
              <a:t>THE CAVEAT THAT COMES WITH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383280"/>
            <a:ext cx="4892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Disruption at this locus is strongly serotype-structured — Asia1 is nearly invariant (0.03) while SAT2 is completely diverged (1.00). The pathogen-level verdict pools lineages that behave very differently. Before this locus is interpreted biologically, D.H1 must be run per serotype.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62356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222A30"/>
                </a:solidFill>
                <a:latin typeface="Calibri"/>
              </a:rPr>
              <a:t>Read plainly: at the one locus in this study with a decisive signal, G4 sites are MORE labile than matched controls, not less.</a:t>
            </a:r>
          </a:p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222A30"/>
                </a:solidFill>
                <a:latin typeface="Calibri"/>
              </a:rPr>
              <a:t>That contradicts D.H1. It is a real measurement, and reporting it as anything else would be the only actual failure here.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A6670"/>
                </a:solidFill>
                <a:latin typeface="Calibri"/>
              </a:rPr>
              <a:t>Serotype breakdown recorded in docs/revision_log.md; the superseded verdict is kept in the ledger, not overwritten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A667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FC7D8"/>
                </a:solidFill>
                <a:latin typeface="Calibri"/>
              </a:rPr>
              <a:t>SO WHAT DOES IT OUTPUT TODAY?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38328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A closed gate, and the reason for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22A30"/>
                </a:solidFill>
                <a:latin typeface="Calibri"/>
              </a:rPr>
              <a:t>Across all eleven pathogens, the testing ledger currently holds no SUPPORTED D.H1 verdict. So: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50800" cy="566928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8A70"/>
                </a:solidFill>
                <a:latin typeface="Calibri"/>
              </a:rPr>
              <a:t>Produced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783080"/>
            <a:ext cx="8778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2A30"/>
                </a:solidFill>
                <a:latin typeface="Calibri"/>
              </a:rPr>
              <a:t>G4 Reference Atlas per pathogen · QC report · reference-anchored alignment · recombination screen · ML tree and time-scaled root · variant table · per-locus disruption rates · GC control gate · D.H1 verdict · report card · full provenance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697480"/>
            <a:ext cx="50800" cy="5669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69748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0392B"/>
                </a:solidFill>
                <a:latin typeface="Calibri"/>
              </a:rPr>
              <a:t>NOT produced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697480"/>
            <a:ext cx="8778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2A30"/>
                </a:solidFill>
                <a:latin typeface="Calibri"/>
              </a:rPr>
              <a:t>G4-EWS surveillance score · CUSUM / EWMA control limits · detection calls · any statement that a pathogen is or is not changing at a G4 site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0332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3A5C"/>
                </a:solidFill>
                <a:latin typeface="Calibri"/>
              </a:rPr>
              <a:t>What the tool says when you ask it to score anyway: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069080"/>
            <a:ext cx="11201400" cy="1207008"/>
          </a:xfrm>
          <a:prstGeom prst="rect">
            <a:avLst/>
          </a:prstGeom>
          <a:solidFill>
            <a:srgbClr val="EEF1F3"/>
          </a:solidFill>
          <a:ln w="12700">
            <a:solidFill>
              <a:srgbClr val="CE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224528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1B3A5C"/>
                </a:solidFill>
                <a:latin typeface="Consolas"/>
              </a:rPr>
              <a:t>FMDV2026: Stage 5 scoring is BLOCKED — at least one locus shows a real,</a:t>
            </a:r>
          </a:p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1B3A5C"/>
                </a:solidFill>
                <a:latin typeface="Consolas"/>
              </a:rPr>
              <a:t>GC-adjustment-surviving effect that runs AGAINST D.H1: it is MORE disrupted than its</a:t>
            </a:r>
          </a:p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1B3A5C"/>
                </a:solidFill>
                <a:latin typeface="Consolas"/>
              </a:rPr>
              <a:t>matched control, not less. This is evidence against the hypothesis, not an absence of</a:t>
            </a:r>
          </a:p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1B3A5C"/>
                </a:solidFill>
                <a:latin typeface="Consolas"/>
              </a:rPr>
              <a:t>evidence for it, and it is reported separately for that reason.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44068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222A30"/>
                </a:solidFill>
                <a:latin typeface="Calibri"/>
              </a:rPr>
              <a:t>This is the designed behaviour, not a broken run. A score computed from a hypothesis its own data does not support would be a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222A30"/>
                </a:solidFill>
                <a:latin typeface="Calibri"/>
              </a:rPr>
              <a:t>number with nothing behind it — and it would look exactly like a number with something behind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A6670"/>
                </a:solidFill>
                <a:latin typeface="Calibri"/>
              </a:rPr>
              <a:t>Quoted verbatim from `g4watch score --pathogen fmdv2026`, which exits 3 rather than emitting a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A667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FC7D8"/>
                </a:solidFill>
                <a:latin typeface="Calibri"/>
              </a:rPr>
              <a:t>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38328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What this does not yet establish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54864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 b="1" i="0">
                <a:solidFill>
                  <a:srgbClr val="1B3A5C"/>
                </a:solidFill>
                <a:latin typeface="Calibri"/>
              </a:rPr>
              <a:t>▪  Predictions, not structures.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350" b="0" i="0">
                <a:solidFill>
                  <a:srgbClr val="222A30"/>
                </a:solidFill>
                <a:latin typeface="Calibri"/>
              </a:rPr>
              <a:t>Every locus here is computational. No G4 in this Atlas has been confirmed in vitro by CD spectroscopy or NMR.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 b="1" i="0">
                <a:solidFill>
                  <a:srgbClr val="1B3A5C"/>
                </a:solidFill>
                <a:latin typeface="Calibri"/>
              </a:rPr>
              <a:t>▪  One test, one corpus.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350" b="0" i="0">
                <a:solidFill>
                  <a:srgbClr val="222A30"/>
                </a:solidFill>
                <a:latin typeface="Calibri"/>
              </a:rPr>
              <a:t>Only FMDV2026 and its serotype-O subset have cleared the floor for enough loci to test. Eight pathogens have no D.H1 verdict at all.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 b="1" i="0">
                <a:solidFill>
                  <a:srgbClr val="1B3A5C"/>
                </a:solidFill>
                <a:latin typeface="Calibri"/>
              </a:rPr>
              <a:t>▪  Lineage pooling.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350" b="0" i="0">
                <a:solidFill>
                  <a:srgbClr val="222A30"/>
                </a:solidFill>
                <a:latin typeface="Calibri"/>
              </a:rPr>
              <a:t>The pathogen-level verdict treats each corpus as one population. G4-004 shows that can hide large between-lineage differences.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39496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 b="1" i="0">
                <a:solidFill>
                  <a:srgbClr val="1B3A5C"/>
                </a:solidFill>
                <a:latin typeface="Calibri"/>
              </a:rPr>
              <a:t>▪  Sampling is opportunistic.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350" b="0" i="0">
                <a:solidFill>
                  <a:srgbClr val="222A30"/>
                </a:solidFill>
                <a:latin typeface="Calibri"/>
              </a:rPr>
              <a:t>GenBank is not a survey. Country and year distributions reflect who sequenced what, not where the virus was.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 b="1" i="0">
                <a:solidFill>
                  <a:srgbClr val="1B3A5C"/>
                </a:solidFill>
                <a:latin typeface="Calibri"/>
              </a:rPr>
              <a:t>▪  The control-limit calibration is short.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350" b="0" i="0">
                <a:solidFill>
                  <a:srgbClr val="222A30"/>
                </a:solidFill>
                <a:latin typeface="Calibri"/>
              </a:rPr>
              <a:t>Baselines are annual and few, so limits carry explicit uncertainty intervals rather than being quoted as exact numbers.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 b="1" i="0">
                <a:solidFill>
                  <a:srgbClr val="1B3A5C"/>
                </a:solidFill>
                <a:latin typeface="Calibri"/>
              </a:rPr>
              <a:t>▪  No clinical or field validation.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350" b="0" i="0">
                <a:solidFill>
                  <a:srgbClr val="222A30"/>
                </a:solidFill>
                <a:latin typeface="Calibri"/>
              </a:rPr>
              <a:t>Nothing here has been tested against outbreak outcomes. This is a hypothesis-testing framework, not a diagnostic.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11201400" cy="1371600"/>
          </a:xfrm>
          <a:prstGeom prst="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102352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B3A5C"/>
                </a:solidFill>
                <a:latin typeface="Calibri"/>
              </a:rPr>
              <a:t>None of these limits is a reason to distrust the negative result.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B3A5C"/>
                </a:solidFill>
                <a:latin typeface="Calibri"/>
              </a:rPr>
              <a:t>A framework that could not return a negative result would be the thing worth distrusting. What they do bound is how far it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B3A5C"/>
                </a:solidFill>
                <a:latin typeface="Calibri"/>
              </a:rPr>
              <a:t>generalises: one hypothesis, one well-powered corpus, computational predictions, and no field validation yet.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A6670"/>
                </a:solidFill>
                <a:latin typeface="Calibri"/>
              </a:rPr>
              <a:t>Recorded in docs/validation_report.md and docs/revision_log.md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A667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FC7D8"/>
                </a:solidFill>
                <a:latin typeface="Calibri"/>
              </a:rPr>
              <a:t>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38328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A run is described by three things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3566160" cy="1828800"/>
          </a:xfrm>
          <a:prstGeom prst="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8A70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627632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B3A5C"/>
                </a:solidFill>
                <a:latin typeface="Calibri"/>
              </a:rPr>
              <a:t>The commit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21408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22A30"/>
                </a:solidFill>
                <a:latin typeface="Calibri"/>
              </a:rPr>
              <a:t>Every stage records the git commit it ran under. Analysis code and configuration are versioned together.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06824" y="1371600"/>
            <a:ext cx="3566160" cy="1828800"/>
          </a:xfrm>
          <a:prstGeom prst="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1536192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8A70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4064" y="1627632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B3A5C"/>
                </a:solidFill>
                <a:latin typeface="Calibri"/>
              </a:rPr>
              <a:t>The config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2121408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22A30"/>
                </a:solidFill>
                <a:latin typeface="Calibri"/>
              </a:rPr>
              <a:t>One YAML per pathogen: reference accession, corpus paths, QC thresholds, model, seed, and every exclusion rule.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10728" y="1371600"/>
            <a:ext cx="3566160" cy="1828800"/>
          </a:xfrm>
          <a:prstGeom prst="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536192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8A70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87968" y="1627632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B3A5C"/>
                </a:solidFill>
                <a:latin typeface="Calibri"/>
              </a:rPr>
              <a:t>The accession 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121408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22A30"/>
                </a:solidFill>
                <a:latin typeface="Calibri"/>
              </a:rPr>
              <a:t>The exact GenBank records fetched. The acquisition step is a separate entry point so an analysis run can never silently re-fetch and change its own inputs.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52044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3A5C"/>
                </a:solidFill>
                <a:latin typeface="Calibri"/>
              </a:rPr>
              <a:t>Run it: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886200"/>
            <a:ext cx="11201400" cy="1051560"/>
          </a:xfrm>
          <a:prstGeom prst="rect">
            <a:avLst/>
          </a:prstGeom>
          <a:solidFill>
            <a:srgbClr val="EEF1F3"/>
          </a:solidFill>
          <a:ln w="12700">
            <a:solidFill>
              <a:srgbClr val="CE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06908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B3A5C"/>
                </a:solidFill>
                <a:latin typeface="Consolas"/>
              </a:rPr>
              <a:t>nextflow run workflow/main.nf --pathogen fmdv2026 -profile docker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B3A5C"/>
                </a:solidFill>
                <a:latin typeface="Consolas"/>
              </a:rPr>
              <a:t>g4watch gate-status --pathogen fmdv2026        # never blocked; reports why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166360"/>
            <a:ext cx="2743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B3A5C"/>
                </a:solidFill>
                <a:latin typeface="Calibri"/>
              </a:rPr>
              <a:t>1,199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73328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6670"/>
                </a:solidFill>
                <a:latin typeface="Calibri"/>
              </a:rPr>
              <a:t>automated tests passing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5166360"/>
            <a:ext cx="2743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B3A5C"/>
                </a:solidFill>
                <a:latin typeface="Calibri"/>
              </a:rPr>
              <a:t>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573328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6670"/>
                </a:solidFill>
                <a:latin typeface="Calibri"/>
              </a:rPr>
              <a:t>pathogens provisioned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166360"/>
            <a:ext cx="2743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B3A5C"/>
                </a:solidFill>
                <a:latin typeface="Calibri"/>
              </a:rPr>
              <a:t>6,485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73328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6670"/>
                </a:solidFill>
                <a:latin typeface="Calibri"/>
              </a:rPr>
              <a:t>genomes aligned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5166360"/>
            <a:ext cx="2743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B3A5C"/>
                </a:solidFill>
                <a:latin typeface="Calibri"/>
              </a:rPr>
              <a:t>append-only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573328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6670"/>
                </a:solidFill>
                <a:latin typeface="Calibri"/>
              </a:rPr>
              <a:t>testing ledger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0528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A6670"/>
                </a:solidFill>
                <a:latin typeface="Calibri"/>
              </a:rPr>
              <a:t>Profiles: docker · singularity · conda_free · slurm · awsbatch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A667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874519"/>
            <a:ext cx="1371600" cy="5080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40280"/>
            <a:ext cx="10424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The framework works. The hypothesis,</a:t>
            </a:r>
          </a:p>
          <a:p>
            <a:pPr algn="l">
              <a:lnSpc>
                <a:spcPct val="125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so far, does not hold.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77639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b="0" i="0">
                <a:solidFill>
                  <a:srgbClr val="9FC7D8"/>
                </a:solidFill>
                <a:latin typeface="Calibri"/>
              </a:rPr>
              <a:t>Eleven pathogens, 6,485 genomes and an end-to-end pipeline that runs, records what it did, and refuses to score when its</a:t>
            </a:r>
          </a:p>
          <a:p>
            <a:pPr algn="l">
              <a:lnSpc>
                <a:spcPct val="140000"/>
              </a:lnSpc>
            </a:pPr>
            <a:r>
              <a:rPr sz="1550" b="0" i="0">
                <a:solidFill>
                  <a:srgbClr val="9FC7D8"/>
                </a:solidFill>
                <a:latin typeface="Calibri"/>
              </a:rPr>
              <a:t>own gate is closed. At the one locus with a decisive signal, G4 sites are more labile than matched controls — the opposite</a:t>
            </a:r>
          </a:p>
          <a:p>
            <a:pPr algn="l">
              <a:lnSpc>
                <a:spcPct val="140000"/>
              </a:lnSpc>
            </a:pPr>
            <a:r>
              <a:rPr sz="1550" b="0" i="0">
                <a:solidFill>
                  <a:srgbClr val="9FC7D8"/>
                </a:solidFill>
                <a:latin typeface="Calibri"/>
              </a:rPr>
              <a:t>of what D.H1 predicts. The next step is to test that per serotype, and to get more pathogens past the data floor.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97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7EA3B8"/>
                </a:solidFill>
                <a:latin typeface="Calibri"/>
              </a:rPr>
              <a:t>ICAR–NIVEDI  ·  G4-WATCH  ·  research framework, not a validated diagnostic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