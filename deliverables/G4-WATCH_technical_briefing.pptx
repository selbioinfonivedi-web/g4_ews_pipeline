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254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9FC7D8"/>
                </a:solidFill>
                <a:latin typeface="Calibri"/>
              </a:rPr>
              <a:t>ICAR – NIVEDI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G4-WATCH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D8E4E9"/>
                </a:solidFill>
                <a:latin typeface="Calibri"/>
              </a:rPr>
              <a:t>G-Quadruplex Genomic Early-Warning Surveillance for Livestock Viruses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B8C9D1"/>
                </a:solidFill>
                <a:latin typeface="Calibri"/>
              </a:rPr>
              <a:t>How it works · the formulas and statistical tools · the workflow · the report card ·</a:t>
            </a:r>
          </a:p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B8C9D1"/>
                </a:solidFill>
                <a:latin typeface="Calibri"/>
              </a:rPr>
              <a:t>how baseline, threshold and weights are derived · what the Early-Warning Score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FAA"/>
                </a:solidFill>
                <a:latin typeface="Calibri"/>
              </a:rPr>
              <a:t>Technical briefing — all formulas and thresholds cited from the implemented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Why a G-quadruplex-based early-warning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201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22A30"/>
                </a:solidFill>
                <a:latin typeface="Calibri"/>
              </a:rPr>
              <a:t>G-quadruplexes (G4s) are four-stranded DNA/RNA secondary structures formed by G-rich sequence. In several viruses they sit over functionally important genome regions and their disruption or loss has been linked to altered replication, translation, or immune evasion.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11201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1B3A5C"/>
                </a:solidFill>
                <a:latin typeface="Calibri"/>
              </a:rPr>
              <a:t>▪  The surveillance question: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–  Are conserved G4 motifs in a pathogen's genome being disrupted, lost, or newly gained at a rate that differs from background — and is that rate accelerating in specific lineages or geographies?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700" b="1" i="0">
                <a:solidFill>
                  <a:srgbClr val="1B3A5C"/>
                </a:solidFill>
                <a:latin typeface="Calibri"/>
              </a:rPr>
              <a:t>▪  Why this needs its own statistical framework, not a simple mutation counter: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–  G4 motifs are GC-rich by construction — any raw disruption signal is confounded with GC content and must be adjusted for it before it means anything.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–  A handful of tip sequences from one outbreak clade are not independent observations; naive per-genome counting manufactures false significance.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–  Not every computationally predicted G4 is real. The framework must separate "a motif that scores well" from "a motif with genuine evidence of forming and mattering".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 i="0">
                <a:solidFill>
                  <a:srgbClr val="1F8A70"/>
                </a:solidFill>
                <a:latin typeface="Calibri"/>
              </a:rPr>
              <a:t>▪  G4-WATCH is built to answer the question only after these three problems are handled — never before.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Framework: G4-WATCH Concept Paper v2 / architecture Sections 5–15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End-to-end workflow — Stage 0 through Stage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143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0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G4 Reference
Atlas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33575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25015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1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Sequence QC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95447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86887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1.5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Recombination
screen (PHI)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57319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48759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2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Alignment +
phylogeny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19191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10631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3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Variant /
tip-state calls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81063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772503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D98C1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4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Appendix C
data floor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42935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34375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4.5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D.H1 gate
(GC-adjusted)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04807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96247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F8A7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5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G4-EWS score +
D.H2–D.H4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66679" y="1897380"/>
            <a:ext cx="91440" cy="0"/>
          </a:xfrm>
          <a:prstGeom prst="line">
            <a:avLst/>
          </a:prstGeom>
          <a:ln w="28575">
            <a:solidFill>
              <a:srgbClr val="5A6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58119" y="1417320"/>
            <a:ext cx="1170432" cy="96012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Stage 6</a:t>
            </a:r>
          </a:p>
          <a:p>
            <a:pPr algn="ctr"/>
            <a:r>
              <a:rPr sz="850">
                <a:solidFill>
                  <a:srgbClr val="FFFFFF"/>
                </a:solidFill>
                <a:latin typeface="Calibri"/>
              </a:rPr>
              <a:t>Report card +
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143" y="2697480"/>
            <a:ext cx="11265408" cy="141732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1743" y="2807208"/>
            <a:ext cx="10808208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▪  The D.H1 gate is the single point of control: Stage 5/6 scoring is refused (exit code 3) unless D.H1 returns SUPPORTED for this pathogen and its config sets operational_mode: true.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0" i="0">
                <a:solidFill>
                  <a:srgbClr val="222A30"/>
                </a:solidFill>
                <a:latin typeface="Calibri"/>
              </a:rPr>
              <a:t>▪  NOT_SUPPORTED and SIGNAL_EXPLAINED_BY_GC are not failures of the pipeline — they are documented scientific findings written to the append-only testing ledger.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143" y="4206240"/>
            <a:ext cx="11265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670"/>
                </a:solidFill>
                <a:latin typeface="Calibri"/>
              </a:rPr>
              <a:t>Stages 1–3 build the evidence base • Stage 4/4.5 decide IF scoring is scientifically valid • Stage 5/6 produce the score, ONLY if permitted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14 Nextflow processes implement these 9 stages end to end (profiles: standard / slurm / awsbatch / docker / singularity)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runs at each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394960"/>
                <a:gridCol w="4800600"/>
              </a:tblGrid>
              <a:tr h="448056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Tool(s)</a:t>
                      </a:r>
                    </a:p>
                  </a:txBody>
                  <a:tcPr marL="76200" marR="76200" marT="38100" marB="38100" anchor="ctr">
                    <a:solidFill>
                      <a:srgbClr val="1B3A5C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G4 motif scan, two-axis confidence classification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G4Hunter (custom), pattern-motif scanner, Biopython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Sequence QC (completeness, N-content, date precision)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custom QC (g4watch.qc), Biopython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1.5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Recombination screening (mandatory, gates the floor)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PhiPack (Phi test), vendored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Multiple alignment; ML phylogeny; time-scaled tree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MAFFT 7.5; IQ-TREE2 2.3.6; TreeTime 0.11.4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2/4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Ancestral state reconstruction on the rooted tree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R + ape 5.7.1 (Rscript)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Variant calling vs. reference; per-genome tip states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custom (g4watch.variants), reference-pinned alignment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4/4.5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Minimum-data floor; GC-confound-adjusted gate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SciPy (Fisher exact); pooled logistic regression + LRT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Seven-term metrics; G4-EWS-core / integrated score; CUSUM/EWMA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NumPy/SciPy; custom scoring package</a:t>
                      </a:r>
                    </a:p>
                  </a:txBody>
                  <a:tcPr marL="76200" marR="76200" marT="38100" marB="38100" anchor="ctr">
                    <a:solidFill>
                      <a:srgbClr val="EEF1F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Report card, gate-status dashboard, calibration check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custom reporting; FastAPI + SSE web dashboard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Container images: g4watch/core, alignment, phylogenetics, selection, statistics, g4prediction, variants, web-backend/db/proxy,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G4 Reference Atlas — two independent confidence axes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B3A5C"/>
                </a:solidFill>
                <a:latin typeface="Calibri"/>
              </a:rPr>
              <a:t>▪  Axis 1 — Structural Confidence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Is there real evidence this G4 forms at all? The ONLY axis that gates eligibility for scoring.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B3A5C"/>
                </a:solidFill>
                <a:latin typeface="Calibri"/>
              </a:rPr>
              <a:t>▪  Axis 2 — Functional Context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Does it sit in an annotated functional region? Reported for interpretation — never gates.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F8A70"/>
                </a:solidFill>
                <a:latin typeface="Calibri"/>
              </a:rPr>
              <a:t>▪  Kept strictly independent by design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so a well-annotated but weakly-supported motif can never borrow credibility from its location, and a strong motif in an unannotated region is never discarded for that reason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603504"/>
          </a:xfrm>
          <a:prstGeom prst="roundRect">
            <a:avLst>
              <a:gd name="adj" fmla="val 1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EC  —  Experimentally 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075688"/>
            <a:ext cx="5577840" cy="603504"/>
          </a:xfrm>
          <a:prstGeom prst="roundRect">
            <a:avLst>
              <a:gd name="adj" fmla="val 18000"/>
            </a:avLst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BC  —  Biophysically Confirmed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34056"/>
            <a:ext cx="5577840" cy="603504"/>
          </a:xfrm>
          <a:prstGeom prst="roundRect">
            <a:avLst>
              <a:gd name="adj" fmla="val 18000"/>
            </a:avLst>
          </a:prstGeom>
          <a:solidFill>
            <a:srgbClr val="6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  —  Strong Computational Candidate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92424"/>
            <a:ext cx="5577840" cy="603504"/>
          </a:xfrm>
          <a:prstGeom prst="roundRect">
            <a:avLst>
              <a:gd name="adj" fmla="val 18000"/>
            </a:avLst>
          </a:prstGeom>
          <a:solidFill>
            <a:srgbClr val="D9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MC  —  Moderate Computational Candidate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50792"/>
            <a:ext cx="5577840" cy="603504"/>
          </a:xfrm>
          <a:prstGeom prst="roundRect">
            <a:avLst>
              <a:gd name="adj" fmla="val 18000"/>
            </a:avLst>
          </a:prstGeom>
          <a:solidFill>
            <a:srgbClr val="C9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WC  —  Weak Computational Candidate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709160"/>
            <a:ext cx="5577840" cy="603504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AA  —  Algorithm Artefact (gap / low-quality region)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709160"/>
            <a:ext cx="5394960" cy="16916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828032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SC rule (relaxed 2026-09; a judgment call, NOT a ROC fit — see R-11):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  ≥ 1 prediction tool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  AND |G4Hunter score| ≥ 1.2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  AND phylogenetic conservation ≥ 75%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Was ≥ 2 tools / 1.5 / 85%: 0% sensitivity to confirmed viral G4s.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B3A5C"/>
                </a:solidFill>
                <a:latin typeface="Consolas"/>
              </a:rPr>
              <a:t>G4Hunter's sign is strand, not quality — SC/MC compare |score|.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g4watch/atlas/confidence.py — structural_confidence() / functional_context()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Appendix C minimum-data floor — 9 unconditional checks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201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222A30"/>
                </a:solidFill>
                <a:latin typeface="Calibri"/>
              </a:rPr>
              <a:t>Runs BEFORE the D.H1 gate, on every locus, and never short-circuits — every failing check is reported at once so a pathogen is told INSUFFICIENT_DATA for a specific, complete reason.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20"/>
          <a:ext cx="69494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920240"/>
              </a:tblGrid>
              <a:tr h="420624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Check</a:t>
                      </a:r>
                    </a:p>
                  </a:txBody>
                  <a:tcPr marL="762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FFFFFF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 marL="76200" anchor="ctr">
                    <a:solidFill>
                      <a:srgbClr val="1B3A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Sequences in window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30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Sequences per lineage (smallest)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20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Distinct timepoints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3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Metadata completeness (date/host/country)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90%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Informative clades — locus group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3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Informative clades — control group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3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Matched control region found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Alignment/QC pass fraction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≥ 50%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Recombination screen completed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222A30"/>
                          </a:solidFill>
                        </a:defRPr>
                      </a:pPr>
                      <a:r>
                        <a:t>required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35240" y="1874520"/>
            <a:ext cx="4023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▪  Only the first three numbers (30 / 20 / 3) are stated in the architecture text as "the floor"; the remaining six are this project's own documented judgment call — pipeline-completeness preconditions later stages already depend on implicitly.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▪  INSUFFICIENT_DATA ≠ NOT_SUPPORTED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the floor firing means "cannot test yet"; D.H1 returning NOT_SUPPORTED means "tested, and found no effect". The dashboard must never conflate the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g4watch/validation/minimum_data_gate.py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D.H1 — the gating hypothesis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486400" cy="105156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44168"/>
            <a:ext cx="5157216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3A5C"/>
                </a:solidFill>
                <a:latin typeface="Consolas"/>
              </a:rPr>
              <a:t>D.H1: "G4 Atlas loci show significantly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3A5C"/>
                </a:solidFill>
                <a:latin typeface="Consolas"/>
              </a:rPr>
              <a:t>lower disruption than matched controls,</a:t>
            </a:r>
          </a:p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B3A5C"/>
                </a:solidFill>
                <a:latin typeface="Consolas"/>
              </a:rPr>
              <a:t>surviving GC-content adjustment."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548640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Step 1 — raw test (always computed, both rules)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Fisher's exact test on locus-vs-control disruption, per locus (2×2 table).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Step 2 — GC-confound adjustment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ONE pooled logistic model across every locus and control simultaneously:</a:t>
            </a:r>
          </a:p>
          <a:p>
            <a:pPr lvl="2">
              <a:lnSpc>
                <a:spcPct val="105000"/>
              </a:lnSpc>
              <a:spcAft>
                <a:spcPts val="600"/>
              </a:spcAft>
            </a:pPr>
            <a:r>
              <a:rPr sz="1250" b="0" i="0">
                <a:solidFill>
                  <a:srgbClr val="1B3A5C"/>
                </a:solidFill>
                <a:latin typeface="Consolas"/>
              </a:rPr>
              <a:t>·  disruption ~ GC + locus_1_dummy + ... + locus_k_dummy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Each locus's dummy tested by likelihood-ratio test (full model vs. that dummy removed), then Benjamini–Hochberg FDR-corrected across all loci.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50" b="1" i="0">
                <a:solidFill>
                  <a:srgbClr val="222A30"/>
                </a:solidFill>
                <a:latin typeface="Calibri"/>
              </a:rPr>
              <a:t>▪  Why pooled, not per-pair: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a single locus-control pair has only 2 distinct GC values — GC and locus identity are perfectly collinear and unidentifiable alone.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▪  Step 3 — direction, checked explicitly</a:t>
            </a:r>
          </a:p>
          <a:p>
            <a:pPr lvl="1">
              <a:lnSpc>
                <a:spcPct val="105000"/>
              </a:lnSpc>
              <a:spcAft>
                <a:spcPts val="6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Both tests above are TWO-SIDED — they ask “is this locus different?”, never “is it more conserved?”. D.H1 is directional, so locus_rate &lt; control_rate is required separately. Without it a locus MORE disrupted than its control opens the gate.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325880"/>
          <a:ext cx="5394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108960"/>
              </a:tblGrid>
              <a:tr h="438912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marL="76200" anchor="ctr"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anchor="ctr">
                    <a:solidFill>
                      <a:srgbClr val="C0392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SUPPORTED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Survives GC adjustment AND is LESS disrupted than its control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SIGNAL_OPPOSITE_DIRECTION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Real GC-adjusted effect, but MORE disrupted — against D.H1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SIGNAL_EXPLAINED_BY_GC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Raw effect present, explained away by GC (methods-null)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NOT_SUPPORTED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</a:defRPr>
                      </a:pPr>
                      <a:r>
                        <a:t>No significant difference at all (biological null)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263640" y="3383280"/>
            <a:ext cx="5394960" cy="265176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52044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 i="0">
                <a:solidFill>
                  <a:srgbClr val="1B3A5C"/>
                </a:solidFill>
                <a:latin typeface="Calibri"/>
              </a:rPr>
              <a:t>▪  Two selectable decision rules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conjunction (default): raw Fisher AND GC-adjusted test must both be significant.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gc_adjusted: the GC-adjusted FDR test alone decides; raw Fisher is still computed and reported.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F8A70"/>
                </a:solidFill>
                <a:latin typeface="Calibri"/>
              </a:rPr>
              <a:t>▪  Gate is the ONLY switch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No code downstream may treat a pathogen as scoreable without an actual SUPPORTED Dh1GateResult passed in explicitly.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g4watch/validation/dh1_gate.py, gc_confound_gate.py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STAGES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D.H2, D.H3, D.H4 — the three questions D.H1 unlocks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11880" cy="1234440"/>
          </a:xfrm>
          <a:prstGeom prst="roundRect">
            <a:avLst>
              <a:gd name="adj" fmla="val 10000"/>
            </a:avLst>
          </a:prstGeom>
          <a:solidFill>
            <a:srgbClr val="1F8A7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D.H2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Does G4 information add predictive value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beyond conventional genomic-epidemiology signals?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40"/>
            <a:ext cx="3611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Nested model comparison M1→M4 (next slide). Answered conservatively: requires BOTH a significant likelihood-ratio gain of M4 over M2 AND M4 beating M2 on held-out 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611880" cy="1234440"/>
          </a:xfrm>
          <a:prstGeom prst="roundRect">
            <a:avLst>
              <a:gd name="adj" fmla="val 10000"/>
            </a:avLst>
          </a:prstGeom>
          <a:solidFill>
            <a:srgbClr val="D98C1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D.H3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606040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Do G4 state transitions (present→disrupted/gained)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occur more often in expanding clades?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749040"/>
            <a:ext cx="3611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Fisher's exact test on (transition / no-transition) × (expanding / not-expanding), clade-level — NOT tip-level, which would treat one outbreak's 200 sequences as 200 independent events.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11880" cy="1234440"/>
          </a:xfrm>
          <a:prstGeom prst="roundRect">
            <a:avLst>
              <a:gd name="adj" fmla="val 10000"/>
            </a:avLst>
          </a:prstGeom>
          <a:solidFill>
            <a:srgbClr val="6EA8C9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D.H4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606040"/>
            <a:ext cx="3611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Same question as D.H2, from the other direction: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does the G4 signal hold once conventional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signals are controlled for?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749040"/>
            <a:ext cx="3611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Answered by the same nested LRT + held-out-AUC test as D.H2 — reported together, since they are the two directions of one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A6670"/>
                </a:solidFill>
                <a:latin typeface="Calibri"/>
              </a:rPr>
              <a:t>Clade trajectory (D.H3) is a sampling-share estimate from tip collection dates — a claim about the sequenced record, not directly about transmission incidence.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g4watch/validation/dh3_test.py, phylo/clade_growth.py, validation/model_comparison.py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seven G.2 surveillance terms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846320"/>
                <a:gridCol w="5166360"/>
              </a:tblGrid>
              <a:tr h="60579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 marL="76200" anchor="ctr"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 marL="76200" anchor="ctr">
                    <a:solidFill>
                      <a:srgbClr val="1F8A7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 (per surveillance window)</a:t>
                      </a:r>
                    </a:p>
                  </a:txBody>
                  <a:tcPr marL="76200" anchor="ctr">
                    <a:solidFill>
                      <a:srgbClr val="1F8A7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ΔG4C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Change in mean G4 conservation vs. rolling baseline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mean(conservation)ₜ − baseline mean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G4D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Mean weighted disruption frequency across loci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disrupted genomes ÷ assessed genomes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G4G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Proportion of genomes carrying a novel G4 gain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genomes with ≥1 novel G4Hunter hit ÷ N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ΔG4MB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Change in G4-associated mutation burden vs. baseline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Σ G4-locus SNPs ÷ Σ all SNPs, Δ vs. baseline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LF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Fastest-growing lineage frequency change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max over lineages of (freqₜ − freqₜ₋₁)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GE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Shannon entropy of the geography of G4-changed genomes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−Σ pᵢ·ln(pᵢ), countries of disrupted/gained only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TA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alibri"/>
                        </a:defRPr>
                      </a:pPr>
                      <a:r>
                        <a:t>Temporal acceleration: recent vs. historical substitution rate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222A30"/>
                          </a:solidFill>
                          <a:latin typeface="Consolas"/>
                        </a:defRPr>
                      </a:pPr>
                      <a:r>
                        <a:t>rate(recent) ÷ rate(history), clipped at 10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g4watch/metrics/surveillance_metrics.py — ΔG4C/G4D/G4G/ΔG4MB feed model M3; LF/GE/TA are added for M4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How the baseline is set — and why z-scoring is mandatory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201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222A30"/>
                </a:solidFill>
                <a:latin typeface="Calibri"/>
              </a:rPr>
              <a:t>The seven raw terms live on incomparable scales — a proportion, an unbounded entropy, a ratio. Summing them with equal weight=1 would not be "equal weight" at all: it silently gives each term influence proportional to its own raw numeric range.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6949440" cy="118872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258568"/>
            <a:ext cx="6620256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Consolas"/>
              </a:rPr>
              <a:t>z = (raw_value − baseline_mean) / baseline_stdev</a:t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B3A5C"/>
                </a:solidFill>
                <a:latin typeface="Consolas"/>
              </a:rPr>
              <a:t>baseline_mean, baseline_stdev = mean, stdev(baseline_values)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69494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B3A5C"/>
                </a:solidFill>
                <a:latin typeface="Calibri"/>
              </a:rPr>
              <a:t>▪  Baseline values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the SAME metric's own values across the pre-surveillance-window baseline period, for THIS pathogen — never a cross-pathogen or literature default.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8A70"/>
                </a:solidFill>
                <a:latin typeface="Calibri"/>
              </a:rPr>
              <a:t>▪  Hard guards, not conventions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fewer than 2 baseline values → refuses (cannot estimate a standard deviation).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zero-variance baseline → refuses, rather than divide by zero or return a meaningless 0.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NormalizedMetric is a distinct type: every scoring function requires it as input, so a raw, un-normalized float cannot be passed in and silently distort a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148840"/>
            <a:ext cx="3566160" cy="23774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2286000"/>
            <a:ext cx="3200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1B3A5C"/>
                </a:solidFill>
                <a:latin typeface="Calibri"/>
              </a:rPr>
              <a:t>"Baseline period" is a design commitment, not a knob:</a:t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1B3A5C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1B3A5C"/>
                </a:solidFill>
                <a:latin typeface="Calibri"/>
              </a:rPr>
              <a:t>the pre-surveillance window recorded once per pathogen (architecture Section 9.4), so a later window can never be scored against a baseline chosen to make it look calmer.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g4watch/metrics/normalization.py — z_against_baseline()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G4-EWS-core (model M3) — the G4-only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201400" cy="10058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44168"/>
            <a:ext cx="10872216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B3A5C"/>
                </a:solidFill>
                <a:latin typeface="Consolas"/>
              </a:rPr>
              <a:t>G4-EWS-core = w1·ΔG4C  +  w2·G4D  +  w3·G4G  +  w4·ΔG4MB*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B3A5C"/>
                </a:solidFill>
                <a:latin typeface="Consolas"/>
              </a:rPr>
              <a:t>(every term a NormalizedMetric — already z-scored against its own baseline)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68880"/>
            <a:ext cx="11201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8A70"/>
                </a:solidFill>
                <a:latin typeface="Calibri"/>
              </a:rPr>
              <a:t>▪  Exactly 4 terms, by construction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This fixes a real defect found in Revision 1: its "G4-only" formula had quietly mixed in 3 conventional epidemiology terms, which made the whole point of the M1–M4 comparison — "does G4 information add value beyond conventional signals" — not well-posed. M3 is defined as exactly this function; there is no other "G4-only" formula anywhere else in the codebase for it to contradict.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B3A5C"/>
                </a:solidFill>
                <a:latin typeface="Calibri"/>
              </a:rPr>
              <a:t>▪  ΔG4MB*  =  orthogonalized excess mutation burden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residualized so it captures mutation burden IN EXCESS of what genome-wide mutation rate already predicts — not raw mutation count, which would double-count background evolution.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g4watch/scoring/g4_ews_core.py, metrics/mutation_burden_residual.py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Integrated Surveillance Score (M4) and the nested model family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949440" cy="91440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44168"/>
            <a:ext cx="662025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B3A5C"/>
                </a:solidFill>
                <a:latin typeface="Consolas"/>
              </a:rPr>
              <a:t>Integrated Score  =  G4-EWS-core  +  w5·LF + w6·GE + w7·TA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37744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743200"/>
                <a:gridCol w="3383280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762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Terms</a:t>
                      </a:r>
                    </a:p>
                  </a:txBody>
                  <a:tcPr marL="7620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Question it answers</a:t>
                      </a:r>
                    </a:p>
                  </a:txBody>
                  <a:tcPr marL="76200" anchor="ctr">
                    <a:solidFill>
                      <a:srgbClr val="1B3A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LF only (null)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baseline signal from lineage frequency alone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LF + GE + TA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conventional genomic-epidemiology signal, no G4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ΔG4C + G4D + G4G + ΔG4MB*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G4-EWS-core — G4 signal alone</a:t>
                      </a:r>
                    </a:p>
                  </a:txBody>
                  <a:tcPr marL="762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M3 + M2 (all 7 terms)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22A30"/>
                          </a:solidFill>
                        </a:defRPr>
                      </a:pPr>
                      <a:r>
                        <a:t>does G4 add value beyond conventional signals?</a:t>
                      </a:r>
                    </a:p>
                  </a:txBody>
                  <a:tcPr marL="76200" anchor="ctr">
                    <a:solidFill>
                      <a:srgbClr val="EEF1F3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35240" y="1234440"/>
            <a:ext cx="3566160" cy="393192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371600"/>
            <a:ext cx="3200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Decision rule (D.H2/D.H4)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M4 significantly beats M2 by likelihood-ratio test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AND M4 beats M2 on held-out AUC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50" b="1" i="0">
                <a:solidFill>
                  <a:srgbClr val="C0392B"/>
                </a:solidFill>
                <a:latin typeface="Calibri"/>
              </a:rPr>
              <a:t>▪  Both required — deliberately conservative: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a likelihood gain that does not survive to held-out discrimination is overfitting, not evidence G4 information helps.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g4watch/scoring/integrated_score.py, validation/model_comparison.py — g4_adds_value()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How w1…w4 are actually fitted — regularized, never guessed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66751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 i="0">
                <a:solidFill>
                  <a:srgbClr val="1B3A5C"/>
                </a:solidFill>
                <a:latin typeface="Calibri"/>
              </a:rPr>
              <a:t>▪  Regularized logistic MLE, no intercept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no intercept because G4-EWS-core is a pure weighted sum with no constant term — fitting one would fit a model the score itself cannot represent.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50" b="1" i="0">
                <a:solidFill>
                  <a:srgbClr val="C0392B"/>
                </a:solidFill>
                <a:latin typeface="Calibri"/>
              </a:rPr>
              <a:t>▪  L2 penalty is the DEFAULT, not an option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the four core terms are correlated by construction (disruption and conservation-change measure overlapping aspects of the same locus history). An unregularized fit at this project's sample sizes gives large, unstable, sign-flipping coefficients that LOOK like findings. Setting strength=0 requires passing allow_unregularized=True explicitly.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383280"/>
            <a:ext cx="6675120" cy="50292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3493008"/>
            <a:ext cx="6345936" cy="283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B3A5C"/>
                </a:solidFill>
                <a:latin typeface="Consolas"/>
              </a:rPr>
              <a:t>objective(w) = −log-likelihood(w)  +  strength · ‖w‖²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023360"/>
            <a:ext cx="6675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8A70"/>
                </a:solidFill>
                <a:latin typeface="Calibri"/>
              </a:rPr>
              <a:t>▪  Mandatory prior-sensitivity report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the fit is re-run at 5 penalty strengths spanning two orders of magnitude (0.1, 0.5, 1.0, 5.0, 20.0). If the fitted weight DIRECTION barely moves across that range, the signal is in the data; if it swings, it is in the prior.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prior_dominated = True (cosine deviation &gt; 0.2, or any sign flip) → the weights must NOT be reported as a finding, by rule, not by judgment call at report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234440"/>
            <a:ext cx="3383280" cy="42062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37160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3A5C"/>
                </a:solidFill>
                <a:latin typeface="Calibri"/>
              </a:rPr>
              <a:t>Design rationale, verbatim: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222A30"/>
                </a:solidFill>
                <a:latin typeface="Calibri"/>
              </a:rPr>
              <a:t>"The optimiser is plain MLE with a penalty term, deliberately simple and readable, because the point of this module is auditability rather than speed."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g4watch/scoring/weight_fitting.py — fit_core_weights(), PriorSensitivityReport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Turning a score series into an alarm — CUSUM &amp; EWMA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486400" cy="7772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44168"/>
            <a:ext cx="5157216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B3A5C"/>
                </a:solidFill>
                <a:latin typeface="Consolas"/>
              </a:rPr>
              <a:t>CUSUM:  Sₜ = max(0,  Sₜ₋₁ + zₜ − k)     alarm if Sₜ &gt; h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5486400" cy="7772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5157216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B3A5C"/>
                </a:solidFill>
                <a:latin typeface="Consolas"/>
              </a:rPr>
              <a:t>EWMA:   Eₜ = λ·zₜ + (1−λ)·Eₜ₋₁          alarm if Eₜ &gt;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59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One-sided, upper only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the surveillance question is directional (an INCREASE in disruption); a two-sided chart would spend half its false-alarm budget on decreases nobody would act 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B3A5C"/>
                </a:solidFill>
                <a:latin typeface="Calibri"/>
              </a:rPr>
              <a:t>▪  Why both charts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CUSUM accumulates evidence — strongest against a sustained step shift. EWMA's decaying weight tracks a gradual drift — the more plausible shape for a G4 locus eroding over successive seasons.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F8A70"/>
                </a:solidFill>
                <a:latin typeface="Calibri"/>
              </a:rPr>
              <a:t>▪  λ = 0.2 (EWMA smoothing constant)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standard surveillance default balancing responsiveness against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234440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222A30"/>
                </a:solidFill>
                <a:latin typeface="Calibri"/>
              </a:rPr>
              <a:t/>
            </a:r>
          </a:p>
        </p:txBody>
      </p:sp>
      <p:pic>
        <p:nvPicPr>
          <p:cNvPr id="12" name="Picture 11" descr="ewma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88720"/>
            <a:ext cx="5669280" cy="23810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g4watch/scoring/cusum.py, ewma.py — chart is an illustrative synthetic series, not a real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How the alarm THRESHOLD is calibrated — target ARL₀ = 200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▪  The problem being corrected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surveillance score windows share sequences, share clades, share the same slowly-changing viral population — consecutive scores are NOT independent draws. Calibrating a control limit under an i.i.d. assumption sets it far too low; in production the alarm rate comes out many times the nominal false-positive rate. "A system that cries wolf is worse than none."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8A70"/>
                </a:solidFill>
                <a:latin typeface="Calibri"/>
              </a:rPr>
              <a:t>▪  The fix — moving-block bootstrap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resample the BASELINE series in contiguous blocks (preserving its short-range dependence), then bisect on the control limit h until the target average run length (ARL₀ = 200 quiet windows per false alarm) is achieved on 500 such resamples.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5A6670"/>
                </a:solidFill>
                <a:latin typeface="Calibri"/>
              </a:rPr>
              <a:t>Block length: n^(1/3) rule of thumb, doubled when lag-1 autocorrelation exceeds 0.5; bounded to [2, n/4]. Needs ≥20 baseline observations — fewer would let the limit be dominated by the baseline's own sampling noise.</a:t>
            </a:r>
          </a:p>
        </p:txBody>
      </p:sp>
      <p:pic>
        <p:nvPicPr>
          <p:cNvPr id="8" name="Picture 7" descr="calibr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71600"/>
            <a:ext cx="5669280" cy="28944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g4watch/scoring/cusum.py — calibrate_cusum(), compare_iid_vs_block_calibration()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From alarms to a warning level an operator can act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 i="0">
                <a:solidFill>
                  <a:srgbClr val="1B3A5C"/>
                </a:solidFill>
                <a:latin typeface="Calibri"/>
              </a:rPr>
              <a:t>▪  Raw level = consecutive alarm windows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1 → WATCH, 2 → ELEVATED, ≥3 → HIGH. Requiring persistence is the cheapest guard against acting on one transient in an autocorrelated series.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788920"/>
            <a:ext cx="2377440" cy="47548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788920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≥ 3 consecutive alarm windows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55848"/>
            <a:ext cx="2377440" cy="475488"/>
          </a:xfrm>
          <a:prstGeom prst="roundRect">
            <a:avLst>
              <a:gd name="adj" fmla="val 10000"/>
            </a:avLst>
          </a:prstGeom>
          <a:solidFill>
            <a:srgbClr val="D98C1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ELEVATED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355848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2 consecutive alarm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22776"/>
            <a:ext cx="2377440" cy="475488"/>
          </a:xfrm>
          <a:prstGeom prst="roundRect">
            <a:avLst>
              <a:gd name="adj" fmla="val 10000"/>
            </a:avLst>
          </a:prstGeom>
          <a:solidFill>
            <a:srgbClr val="C99A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922776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1 alarm window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489704"/>
            <a:ext cx="2377440" cy="475488"/>
          </a:xfrm>
          <a:prstGeom prst="roundRect">
            <a:avLst>
              <a:gd name="adj" fmla="val 10000"/>
            </a:avLst>
          </a:prstGeom>
          <a:solidFill>
            <a:srgbClr val="1F8A7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489704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no current alarm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56632"/>
            <a:ext cx="2377440" cy="475488"/>
          </a:xfrm>
          <a:prstGeom prst="roundRect">
            <a:avLst>
              <a:gd name="adj" fmla="val 10000"/>
            </a:avLst>
          </a:prstGeom>
          <a:solidFill>
            <a:srgbClr val="5A667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INSUFFICIENT_EVIDENCE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5056632"/>
            <a:ext cx="30175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0"/>
                </a:solidFill>
                <a:latin typeface="Calibri"/>
              </a:rPr>
              <a:t>gate closed, OR analysis underpowered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394960" cy="457200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71600"/>
            <a:ext cx="49377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▪  Two caps enforced before a level is ever shown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22A30"/>
                </a:solidFill>
                <a:latin typeface="Calibri"/>
              </a:rPr>
              <a:t>–  Underpowered analysis → capped at INSUFFICIENT_EVIDENCE, always, whatever the chart did. An alarm from a test that could not have detected the effect is not evidence of it.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22A30"/>
                </a:solidFill>
                <a:latin typeface="Calibri"/>
              </a:rPr>
              <a:t>–  Structural-confidence cap → EC/BC can reach HIGH; SC caps at ELEVATED; MC and WC cap at WATCH; AA can never warn at all (NONE).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 i="0">
                <a:solidFill>
                  <a:srgbClr val="1B3A5C"/>
                </a:solidFill>
                <a:latin typeface="Calibri"/>
              </a:rPr>
              <a:t>▪  gate_permitted = False (D.H1 not SUPPORTED)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22A30"/>
                </a:solidFill>
                <a:latin typeface="Calibri"/>
              </a:rPr>
              <a:t>–  → INSUFFICIENT_EVIDENCE unconditionally, before either cap is even checked.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1F8A70"/>
                </a:solidFill>
                <a:latin typeface="Calibri"/>
              </a:rPr>
              <a:t>▪  Every WarningAssessment states the binding cap by name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400" b="0" i="0">
                <a:solidFill>
                  <a:srgbClr val="222A30"/>
                </a:solidFill>
                <a:latin typeface="Calibri"/>
              </a:rPr>
              <a:t>–  "chart alone indicated ELEVATED; capped by structural confidence WC (cap: WATCH)" — never a bare level with no way to see why.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g4watch/warning/classifier.py — classify_warning(), CONFIDENCE_CAP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Worked example — how many candidates actually reach SC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unne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949440" cy="3218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35240" y="1234440"/>
            <a:ext cx="3566160" cy="420624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371600"/>
            <a:ext cx="3200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50" b="1" i="0">
                <a:solidFill>
                  <a:srgbClr val="1B3A5C"/>
                </a:solidFill>
                <a:latin typeface="Calibri"/>
              </a:rPr>
              <a:t>▪  Reading this funnel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Most raw G4Hunter hits (window=25, t=1.2) never reach SC eligibility — this is expected, not a defect: the SC bar is deliberately conservative.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▪  Cross-pathogen honesty check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This funnel varies enormously by pathogen. FMDV's reference genome (53.6% GC) yields only 4 raw G4Hunter hits genome-wide — it may genuinely lack canonical G4 structure.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50" b="0" i="0">
                <a:solidFill>
                  <a:srgbClr val="222A30"/>
                </a:solidFill>
                <a:latin typeface="Calibri"/>
              </a:rPr>
              <a:t>–  Running this funnel before committing to a full pipeline run is now standard practice: it tells you in minutes whether a pathogen can ever reach a scoreable Atlas.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Illustrative worked example (EBV reference genome, NC_007605.1); numbers from this project's own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STAGE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pathogen report card — one document per pathogen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23444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234440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Quality (QC)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11096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Genomic metrics (G.2 terms)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11096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D.H1–D.H4 verdicts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911096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Early-warning indicators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87752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587752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Confidence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587752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Validation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64408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264408"/>
            <a:ext cx="3611880" cy="566928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77640"/>
            <a:ext cx="11201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▪  Three rules enforced in code, not left to whoever assembles the report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Every section carries status reported / blocked / unavailable + a reason — a blank section and an absent one are never conflated.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Scored sections (score, warning level, EW indicators) appear ONLY when the D.H1 gate permits scoring; otherwise shown as blocked with the gate's own explanation.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A card built from synthetic/demonstration data is stamped non-authoritative at the top level — visible to every consumer without inspecting the underlying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g4watch/reporting/report_card.py — build_report_card()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web dashboard — what a user actually sees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8521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B3A5C"/>
                </a:solidFill>
                <a:latin typeface="Calibri"/>
              </a:rPr>
              <a:t>▪  FastAPI + SSE, session-authenticated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PBKDF2-HMAC-SHA256 (600,000 iterations) local auth; secure, signed session cookies; a route allowlist gates everything else behind login.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B3A5C"/>
                </a:solidFill>
                <a:latin typeface="Calibri"/>
              </a:rPr>
              <a:t>▪  Per-pathogen dashboard page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gate status (never blocked — shows WHY scoring is or isn't permitted)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the Atlas, both confidence axes shown independently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recombination screen result, variant summary, molecular-clock diagnostics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score trend, warning-level history, calibration status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8A70"/>
                </a:solidFill>
                <a:latin typeface="Calibri"/>
              </a:rPr>
              <a:t>▪  Live updates over Server-Sent Events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22A30"/>
                </a:solidFill>
                <a:latin typeface="Calibri"/>
              </a:rPr>
              <a:t>–  a long pipeline run streams stage-by-stage progress to the page rather than the user polling or watching a terminal.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234440"/>
            <a:ext cx="5166360" cy="4480560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3A5C"/>
                </a:solidFill>
                <a:latin typeface="Calibri"/>
              </a:rPr>
              <a:t>Route surface (abridged):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783080"/>
            <a:ext cx="4937760" cy="3749039"/>
          </a:xfrm>
          <a:prstGeom prst="rect">
            <a:avLst/>
          </a:prstGeom>
          <a:solidFill>
            <a:srgbClr val="EEF1F3"/>
          </a:solidFill>
          <a:ln w="12700">
            <a:solidFill>
              <a:srgbClr val="CE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892808"/>
            <a:ext cx="4608576" cy="3529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GET /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  overview, all pathogens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GET /pathogen/{name}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  per-pathogen dashboard page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GET /api/pathogen/{name}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  full JSON payload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GET /api/pathogen/{name}/gate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  D.H1 gate status only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POST /login   POST /logout   GET /whoami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TLS + HSTS + CSP at the nginx proxy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rate limits: 5 req/min login,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3A5C"/>
                </a:solidFill>
                <a:latin typeface="Consolas"/>
              </a:rPr>
              <a:t>             30 req/s general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web/backend/app.py, web/workstation/tracks.py, web/proxy/nginx.conf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C7D8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Current validation status — reported plainly, including the negative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201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C0392B"/>
                </a:solidFill>
                <a:latin typeface="Calibri"/>
              </a:rPr>
              <a:t>▪  The D.H1 gate was opening on evidence that contradicted D.H1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222A30"/>
                </a:solidFill>
                <a:latin typeface="Calibri"/>
              </a:rPr>
              <a:t>–  D.H1 claims G4 loci are LESS disrupted than matched controls. Both underlying tests — Fisher and the pooled likelihood-ratio test — are two-sided, so neither could tell 'more conserved' from 'more variable'. Direction was never checked.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222A30"/>
                </a:solidFill>
                <a:latin typeface="Calibri"/>
              </a:rPr>
              <a:t>–  On the FMDV 2026 corpus the ONLY locus returning SUPPORTED, FMDV2026-G4-004, was more disrupted than its control (0.775 vs 0.545). It carried the entire pathogen verdict, and that verdict was what set operational_mode true. Fixed: direction is now required explicitly, and a wrong-direction effect gets its own verdict (SIGNAL_OPPOSITE_DIRECTION) rather than being reported as no effect.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222A30"/>
                </a:solidFill>
                <a:latin typeface="Calibri"/>
              </a:rPr>
              <a:t>–  Two unit tests asserted the inverted behaviour, so the suite agreed with the code and both disagreed with the hypothesis. Corrected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49040"/>
            <a:ext cx="11201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D98C1A"/>
                </a:solidFill>
                <a:latin typeface="Calibri"/>
              </a:rPr>
              <a:t>▪  The SC threshold was relaxed on cross-species evidence — a judgment call, not a ROC fit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222A30"/>
                </a:solidFill>
                <a:latin typeface="Calibri"/>
              </a:rPr>
              <a:t>–  Every confirmed viral G4 available (HIV-1 LTR and nef) classified as WC under the old ≥2-tool / ≥1.5 / ≥85% rule — 0% sensitivity against its own ground truth. Now ≥1 tool, ≥1.2, ≥75%. The confirmed set holds 3 loci from 1 virus with derived coordinates; calibration.py requires 30 across 4 families and refuses to report an operating point.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8A70"/>
                </a:solidFill>
                <a:latin typeface="Calibri"/>
              </a:rPr>
              <a:t>▪  Both findings are the framework working, not failing</a:t>
            </a:r>
          </a:p>
          <a:p>
            <a:pPr lvl="1">
              <a:lnSpc>
                <a:spcPct val="105000"/>
              </a:lnSpc>
              <a:spcAft>
                <a:spcPts val="800"/>
              </a:spcAft>
            </a:pPr>
            <a:r>
              <a:rPr sz="1250" b="0" i="0">
                <a:solidFill>
                  <a:srgbClr val="222A30"/>
                </a:solidFill>
                <a:latin typeface="Calibri"/>
              </a:rPr>
              <a:t>–  A gate that blocks scoring, and a gate defect caught before it authorised one, are documented results. The FMDV 2026 verdict is now SIGNAL_OPPOSITE_DIRECTION and scoring stays blocked.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A6670"/>
                </a:solidFill>
                <a:latin typeface="Calibri"/>
              </a:rPr>
              <a:t>g4watch/validation/dh1_gate.py (direction); calibration.py — 30 positives / 4 families required, not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4710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67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2926080" cy="38100"/>
          </a:xfrm>
          <a:prstGeom prst="rect">
            <a:avLst/>
          </a:prstGeom>
          <a:solidFill>
            <a:srgbClr val="1F8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FC7D8"/>
                </a:solidFill>
                <a:latin typeface="Calibri"/>
              </a:rPr>
              <a:t>▪  A gate, not a formula, is the core design decision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–  D.H1 must return SUPPORTED before ANY score is produced for a pathogen — an unsupported pathogen gets a documented negative result, never a number that looks like one.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FC7D8"/>
                </a:solidFill>
                <a:latin typeface="Calibri"/>
              </a:rPr>
              <a:t>▪  Every number in the score traces to a cited threshold or a fitted, auditable procedure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–  z-scored against a pathogen's own baseline; weights regularized with a mandatory prior-sensitivity check; alarm thresholds calibrated to a stated target ARL by block-bootstrap.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FC7D8"/>
                </a:solidFill>
                <a:latin typeface="Calibri"/>
              </a:rPr>
              <a:t>▪  Confidence caps make the warning level honest about its own evidence quality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–  a weak computational candidate cannot raise a HIGH alarm however cleanly its chart fires.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D98C1A"/>
                </a:solidFill>
                <a:latin typeface="Calibri"/>
              </a:rPr>
              <a:t>▪  Open, stated item: SC threshold recalibration against confirmed viral G4s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–  the operating point was relaxed on 3 confirmed loci from 1 virus. A defensible threshold needs 30 across 4 families with stated coordinates — the next required validation step, not yet performed.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D98C1A"/>
                </a:solidFill>
                <a:latin typeface="Calibri"/>
              </a:rPr>
              <a:t>▪  No pathogen currently has an open gate</a:t>
            </a:r>
          </a:p>
          <a:p>
            <a:pPr lvl="1">
              <a:lnSpc>
                <a:spcPct val="115000"/>
              </a:lnSpc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–  FMDV: INSUFFICIENT_DATA. FMDV 2026: SIGNAL_OPPOSITE_DIRECTION. Every surveillance score in this deck is machinery described, not a result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8A9FAA"/>
                </a:solidFill>
                <a:latin typeface="Calibri"/>
              </a:rPr>
              <a:t>G4-WATCH — ICAR-NIVEDI  ·  technical briefing  ·  all figures traced to the implemented codebase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